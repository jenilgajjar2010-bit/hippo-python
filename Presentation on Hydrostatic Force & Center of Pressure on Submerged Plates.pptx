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video/mp4" Extension="mp4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Cambria Bold" charset="1" panose="02040803050406030204"/>
      <p:regular r:id="rId18"/>
    </p:embeddedFont>
    <p:embeddedFont>
      <p:font typeface="Calibri (MS)" charset="1" panose="020F0502020204030204"/>
      <p:regular r:id="rId19"/>
    </p:embeddedFont>
    <p:embeddedFont>
      <p:font typeface="Calibri (MS) Bold" charset="1" panose="020F0702030404030204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1.jpeg" Type="http://schemas.openxmlformats.org/officeDocument/2006/relationships/image"/><Relationship Id="rId4" Target="../media/image5.jpeg" Type="http://schemas.openxmlformats.org/officeDocument/2006/relationships/image"/><Relationship Id="rId5" Target="../media/VAHWIqBYi2Q.mp4" Type="http://schemas.openxmlformats.org/officeDocument/2006/relationships/video"/><Relationship Id="rId6" Target="../media/VAHWIqBYi2Q.mp4" Type="http://schemas.microsoft.com/office/2007/relationships/media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VAHWI4Q5GlI.mp4" Type="http://schemas.openxmlformats.org/officeDocument/2006/relationships/video"/><Relationship Id="rId4" Target="../media/VAHWI4Q5GlI.mp4" Type="http://schemas.microsoft.com/office/2007/relationships/media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0B2F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057383" y="5839463"/>
            <a:ext cx="8437883" cy="6609083"/>
            <a:chOff x="0" y="0"/>
            <a:chExt cx="11250511" cy="88121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250549" cy="8812149"/>
            </a:xfrm>
            <a:custGeom>
              <a:avLst/>
              <a:gdLst/>
              <a:ahLst/>
              <a:cxnLst/>
              <a:rect r="r" b="b" t="t" l="l"/>
              <a:pathLst>
                <a:path h="8812149" w="11250549">
                  <a:moveTo>
                    <a:pt x="0" y="4406011"/>
                  </a:moveTo>
                  <a:cubicBezTo>
                    <a:pt x="0" y="1972691"/>
                    <a:pt x="2518537" y="0"/>
                    <a:pt x="5625211" y="0"/>
                  </a:cubicBezTo>
                  <a:cubicBezTo>
                    <a:pt x="8731885" y="0"/>
                    <a:pt x="11250549" y="1972691"/>
                    <a:pt x="11250549" y="4406011"/>
                  </a:cubicBezTo>
                  <a:cubicBezTo>
                    <a:pt x="11250549" y="6839331"/>
                    <a:pt x="8732012" y="8812149"/>
                    <a:pt x="5625211" y="8812149"/>
                  </a:cubicBezTo>
                  <a:cubicBezTo>
                    <a:pt x="2518410" y="8812149"/>
                    <a:pt x="0" y="6839458"/>
                    <a:pt x="0" y="4406011"/>
                  </a:cubicBezTo>
                  <a:close/>
                </a:path>
              </a:pathLst>
            </a:custGeom>
            <a:solidFill>
              <a:srgbClr val="1E88E5">
                <a:alpha val="35686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3886183" y="7302503"/>
            <a:ext cx="6609083" cy="4780283"/>
            <a:chOff x="0" y="0"/>
            <a:chExt cx="8812111" cy="637371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812149" cy="6373749"/>
            </a:xfrm>
            <a:custGeom>
              <a:avLst/>
              <a:gdLst/>
              <a:ahLst/>
              <a:cxnLst/>
              <a:rect r="r" b="b" t="t" l="l"/>
              <a:pathLst>
                <a:path h="6373749" w="8812149">
                  <a:moveTo>
                    <a:pt x="0" y="3186811"/>
                  </a:moveTo>
                  <a:cubicBezTo>
                    <a:pt x="0" y="1426845"/>
                    <a:pt x="1972691" y="0"/>
                    <a:pt x="4406011" y="0"/>
                  </a:cubicBezTo>
                  <a:cubicBezTo>
                    <a:pt x="6839331" y="0"/>
                    <a:pt x="8812149" y="1426845"/>
                    <a:pt x="8812149" y="3186811"/>
                  </a:cubicBezTo>
                  <a:cubicBezTo>
                    <a:pt x="8812149" y="4946777"/>
                    <a:pt x="6839458" y="6373749"/>
                    <a:pt x="4406011" y="6373749"/>
                  </a:cubicBezTo>
                  <a:cubicBezTo>
                    <a:pt x="1972564" y="6373749"/>
                    <a:pt x="0" y="4946904"/>
                    <a:pt x="0" y="3186811"/>
                  </a:cubicBezTo>
                  <a:close/>
                </a:path>
              </a:pathLst>
            </a:custGeom>
            <a:solidFill>
              <a:srgbClr val="1E88E5">
                <a:alpha val="48627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228583" y="8399783"/>
            <a:ext cx="9535163" cy="4048763"/>
            <a:chOff x="0" y="0"/>
            <a:chExt cx="12713551" cy="539835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713462" cy="5398262"/>
            </a:xfrm>
            <a:custGeom>
              <a:avLst/>
              <a:gdLst/>
              <a:ahLst/>
              <a:cxnLst/>
              <a:rect r="r" b="b" t="t" l="l"/>
              <a:pathLst>
                <a:path h="5398262" w="12713462">
                  <a:moveTo>
                    <a:pt x="0" y="2699131"/>
                  </a:moveTo>
                  <a:cubicBezTo>
                    <a:pt x="0" y="1208405"/>
                    <a:pt x="2846070" y="0"/>
                    <a:pt x="6356731" y="0"/>
                  </a:cubicBezTo>
                  <a:cubicBezTo>
                    <a:pt x="9867392" y="0"/>
                    <a:pt x="12713462" y="1208405"/>
                    <a:pt x="12713462" y="2699131"/>
                  </a:cubicBezTo>
                  <a:cubicBezTo>
                    <a:pt x="12713462" y="4189857"/>
                    <a:pt x="9867392" y="5398262"/>
                    <a:pt x="6356731" y="5398262"/>
                  </a:cubicBezTo>
                  <a:cubicBezTo>
                    <a:pt x="2846070" y="5398262"/>
                    <a:pt x="0" y="4189857"/>
                    <a:pt x="0" y="2699131"/>
                  </a:cubicBezTo>
                  <a:close/>
                </a:path>
              </a:pathLst>
            </a:custGeom>
            <a:solidFill>
              <a:srgbClr val="1E88E5">
                <a:alpha val="20000"/>
              </a:srgbClr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097280" y="1636395"/>
            <a:ext cx="13167360" cy="3484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60"/>
              </a:lnSpc>
            </a:pPr>
            <a:r>
              <a:rPr lang="en-US" sz="6800" b="true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Hydrostatic Force &amp; Center of Pressure on Submerged Plates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97280" y="5337810"/>
            <a:ext cx="12435840" cy="97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BBDEFB"/>
                </a:solidFill>
                <a:latin typeface="Calibri (MS)"/>
                <a:ea typeface="Calibri (MS)"/>
                <a:cs typeface="Calibri (MS)"/>
                <a:sym typeface="Calibri (MS)"/>
              </a:rPr>
              <a:t>An interactive Streamlit calculator with an animated schematic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97280" y="7349490"/>
            <a:ext cx="10972800" cy="2068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Lalluvadiya Jenil Sagarbhai</a:t>
            </a:r>
          </a:p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Enrollment No. 25012251210001</a:t>
            </a:r>
          </a:p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Diploma in Automation &amp; Robotics Engineering</a:t>
            </a:r>
          </a:p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Lok Jagruti Kendra University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731520"/>
            <a:ext cx="16459200" cy="1280160"/>
            <a:chOff x="0" y="0"/>
            <a:chExt cx="21945600" cy="17068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1945600" cy="17164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679"/>
                </a:lnSpc>
              </a:pPr>
              <a:r>
                <a:rPr lang="en-US" sz="6399" b="true">
                  <a:solidFill>
                    <a:srgbClr val="0B2F45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Problem overview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914400" y="2411730"/>
            <a:ext cx="8595360" cy="605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1E88E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The problem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14400" y="3051810"/>
            <a:ext cx="8595360" cy="1611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13232F"/>
                </a:solidFill>
                <a:latin typeface="Calibri (MS)"/>
                <a:ea typeface="Calibri (MS)"/>
                <a:cs typeface="Calibri (MS)"/>
                <a:sym typeface="Calibri (MS)"/>
              </a:rPr>
              <a:t>Pressure on a submerged plate grows with depth. Engineers need the total thrust and the point where it acts, but solving each numerical by hand is slow.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14400" y="4789170"/>
            <a:ext cx="8595360" cy="605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1E88E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Scope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14400" y="5429250"/>
            <a:ext cx="8595360" cy="1611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13232F"/>
                </a:solidFill>
                <a:latin typeface="Calibri (MS)"/>
                <a:ea typeface="Calibri (MS)"/>
                <a:cs typeface="Calibri (MS)"/>
                <a:sym typeface="Calibri (MS)"/>
              </a:rPr>
              <a:t>Rectangular or circular plate, vertical or inclined, in water, sea water, oil, mercury or a custom liquid.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14400" y="7166610"/>
            <a:ext cx="8595360" cy="605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1E88E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Output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14400" y="7806690"/>
            <a:ext cx="8595360" cy="1611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13232F"/>
                </a:solidFill>
                <a:latin typeface="Calibri (MS)"/>
                <a:ea typeface="Calibri (MS)"/>
                <a:cs typeface="Calibri (MS)"/>
                <a:sym typeface="Calibri (MS)"/>
              </a:rPr>
              <a:t>Total thrust F, center of pressure depth h_cp, and a live schematic of centroid vs center of pressure.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0392413" y="2345693"/>
            <a:ext cx="7012943" cy="6647183"/>
            <a:chOff x="0" y="0"/>
            <a:chExt cx="9350591" cy="886291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350629" cy="8862949"/>
            </a:xfrm>
            <a:custGeom>
              <a:avLst/>
              <a:gdLst/>
              <a:ahLst/>
              <a:cxnLst/>
              <a:rect r="r" b="b" t="t" l="l"/>
              <a:pathLst>
                <a:path h="8862949" w="9350629">
                  <a:moveTo>
                    <a:pt x="0" y="0"/>
                  </a:moveTo>
                  <a:lnTo>
                    <a:pt x="9350629" y="0"/>
                  </a:lnTo>
                  <a:lnTo>
                    <a:pt x="9350629" y="8862949"/>
                  </a:lnTo>
                  <a:lnTo>
                    <a:pt x="0" y="8862949"/>
                  </a:lnTo>
                  <a:close/>
                </a:path>
              </a:pathLst>
            </a:custGeom>
            <a:solidFill>
              <a:srgbClr val="F4F8FB"/>
            </a:solidFill>
            <a:ln w="63500" cap="sq">
              <a:solidFill>
                <a:srgbClr val="3E5C76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10392413" y="3442973"/>
            <a:ext cx="7012943" cy="5549903"/>
            <a:chOff x="0" y="0"/>
            <a:chExt cx="9350591" cy="739987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350629" cy="7399909"/>
            </a:xfrm>
            <a:custGeom>
              <a:avLst/>
              <a:gdLst/>
              <a:ahLst/>
              <a:cxnLst/>
              <a:rect r="r" b="b" t="t" l="l"/>
              <a:pathLst>
                <a:path h="7399909" w="9350629">
                  <a:moveTo>
                    <a:pt x="0" y="0"/>
                  </a:moveTo>
                  <a:lnTo>
                    <a:pt x="9350629" y="0"/>
                  </a:lnTo>
                  <a:lnTo>
                    <a:pt x="9350629" y="7399909"/>
                  </a:lnTo>
                  <a:lnTo>
                    <a:pt x="0" y="7399909"/>
                  </a:lnTo>
                  <a:close/>
                </a:path>
              </a:pathLst>
            </a:custGeom>
            <a:solidFill>
              <a:srgbClr val="64B5F6">
                <a:alpha val="41961"/>
              </a:srgbClr>
            </a:solidFill>
            <a:ln w="63500" cap="sq">
              <a:solidFill>
                <a:srgbClr val="3E5C76"/>
              </a:solidFill>
              <a:prstDash val="solid"/>
              <a:miter/>
            </a:ln>
          </p:spPr>
        </p:sp>
      </p:grpSp>
      <p:sp>
        <p:nvSpPr>
          <p:cNvPr name="TextBox 15" id="15"/>
          <p:cNvSpPr txBox="true"/>
          <p:nvPr/>
        </p:nvSpPr>
        <p:spPr>
          <a:xfrm rot="0">
            <a:off x="14996160" y="2924556"/>
            <a:ext cx="219456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78"/>
                </a:solidFill>
                <a:latin typeface="Calibri (MS)"/>
                <a:ea typeface="Calibri (MS)"/>
                <a:cs typeface="Calibri (MS)"/>
                <a:sym typeface="Calibri (MS)"/>
              </a:rPr>
              <a:t>free surface</a:t>
            </a:r>
          </a:p>
        </p:txBody>
      </p:sp>
      <p:sp>
        <p:nvSpPr>
          <p:cNvPr name="AutoShape 16" id="16"/>
          <p:cNvSpPr/>
          <p:nvPr/>
        </p:nvSpPr>
        <p:spPr>
          <a:xfrm rot="5298900">
            <a:off x="10637291" y="3972878"/>
            <a:ext cx="1036768" cy="0"/>
          </a:xfrm>
          <a:prstGeom prst="line">
            <a:avLst/>
          </a:prstGeom>
          <a:ln cap="rnd" w="9525">
            <a:solidFill>
              <a:srgbClr val="13232F"/>
            </a:solidFill>
            <a:prstDash val="solid"/>
            <a:headEnd type="triangle" len="med" w="lg"/>
            <a:tailEnd type="triangle" len="med" w="lg"/>
          </a:ln>
        </p:spPr>
      </p:sp>
      <p:sp>
        <p:nvSpPr>
          <p:cNvPr name="TextBox 17" id="17"/>
          <p:cNvSpPr txBox="true"/>
          <p:nvPr/>
        </p:nvSpPr>
        <p:spPr>
          <a:xfrm rot="0">
            <a:off x="10607040" y="3710940"/>
            <a:ext cx="45720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79"/>
              </a:lnSpc>
            </a:pPr>
            <a:r>
              <a:rPr lang="en-US" sz="2400" b="true">
                <a:solidFill>
                  <a:srgbClr val="13232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3337543" y="4467863"/>
            <a:ext cx="281435" cy="3500123"/>
            <a:chOff x="0" y="0"/>
            <a:chExt cx="375247" cy="466683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75285" cy="4666869"/>
            </a:xfrm>
            <a:custGeom>
              <a:avLst/>
              <a:gdLst/>
              <a:ahLst/>
              <a:cxnLst/>
              <a:rect r="r" b="b" t="t" l="l"/>
              <a:pathLst>
                <a:path h="4666869" w="375285">
                  <a:moveTo>
                    <a:pt x="0" y="0"/>
                  </a:moveTo>
                  <a:lnTo>
                    <a:pt x="375285" y="0"/>
                  </a:lnTo>
                  <a:lnTo>
                    <a:pt x="375285" y="4666869"/>
                  </a:lnTo>
                  <a:lnTo>
                    <a:pt x="0" y="4666869"/>
                  </a:lnTo>
                  <a:close/>
                </a:path>
              </a:pathLst>
            </a:custGeom>
            <a:solidFill>
              <a:srgbClr val="6B7280"/>
            </a:solidFill>
            <a:ln w="25400" cap="sq">
              <a:solidFill>
                <a:srgbClr val="6B7280"/>
              </a:solidFill>
              <a:prstDash val="solid"/>
              <a:miter/>
            </a:ln>
          </p:spPr>
        </p:sp>
      </p:grpSp>
      <p:sp>
        <p:nvSpPr>
          <p:cNvPr name="AutoShape 20" id="20"/>
          <p:cNvSpPr/>
          <p:nvPr/>
        </p:nvSpPr>
        <p:spPr>
          <a:xfrm rot="224520">
            <a:off x="13693045" y="4653915"/>
            <a:ext cx="681171" cy="0"/>
          </a:xfrm>
          <a:prstGeom prst="line">
            <a:avLst/>
          </a:prstGeom>
          <a:ln cap="rnd" w="19050">
            <a:solidFill>
              <a:srgbClr val="0D47A1"/>
            </a:solidFill>
            <a:prstDash val="solid"/>
            <a:headEnd type="triangle" len="med" w="lg"/>
            <a:tailEnd type="none" len="sm" w="sm"/>
          </a:ln>
        </p:spPr>
      </p:sp>
      <p:sp>
        <p:nvSpPr>
          <p:cNvPr name="AutoShape 21" id="21"/>
          <p:cNvSpPr/>
          <p:nvPr/>
        </p:nvSpPr>
        <p:spPr>
          <a:xfrm rot="142800">
            <a:off x="13693311" y="5476875"/>
            <a:ext cx="1070467" cy="0"/>
          </a:xfrm>
          <a:prstGeom prst="line">
            <a:avLst/>
          </a:prstGeom>
          <a:ln cap="rnd" w="19050">
            <a:solidFill>
              <a:srgbClr val="0D47A1"/>
            </a:solidFill>
            <a:prstDash val="solid"/>
            <a:headEnd type="triangle" len="med" w="lg"/>
            <a:tailEnd type="none" len="sm" w="sm"/>
          </a:ln>
        </p:spPr>
      </p:sp>
      <p:sp>
        <p:nvSpPr>
          <p:cNvPr name="AutoShape 22" id="22"/>
          <p:cNvSpPr/>
          <p:nvPr/>
        </p:nvSpPr>
        <p:spPr>
          <a:xfrm rot="104700">
            <a:off x="13693435" y="6299835"/>
            <a:ext cx="1460040" cy="0"/>
          </a:xfrm>
          <a:prstGeom prst="line">
            <a:avLst/>
          </a:prstGeom>
          <a:ln cap="rnd" w="19050">
            <a:solidFill>
              <a:srgbClr val="0D47A1"/>
            </a:solidFill>
            <a:prstDash val="solid"/>
            <a:headEnd type="triangle" len="med" w="lg"/>
            <a:tailEnd type="none" len="sm" w="sm"/>
          </a:ln>
        </p:spPr>
      </p:sp>
      <p:sp>
        <p:nvSpPr>
          <p:cNvPr name="AutoShape 23" id="23"/>
          <p:cNvSpPr/>
          <p:nvPr/>
        </p:nvSpPr>
        <p:spPr>
          <a:xfrm rot="82620">
            <a:off x="13693511" y="7122795"/>
            <a:ext cx="1849717" cy="0"/>
          </a:xfrm>
          <a:prstGeom prst="line">
            <a:avLst/>
          </a:prstGeom>
          <a:ln cap="rnd" w="19050">
            <a:solidFill>
              <a:srgbClr val="0D47A1"/>
            </a:solidFill>
            <a:prstDash val="solid"/>
            <a:headEnd type="triangle" len="med" w="lg"/>
            <a:tailEnd type="none" len="sm" w="sm"/>
          </a:ln>
        </p:spPr>
      </p:sp>
      <p:sp>
        <p:nvSpPr>
          <p:cNvPr name="AutoShape 24" id="24"/>
          <p:cNvSpPr/>
          <p:nvPr/>
        </p:nvSpPr>
        <p:spPr>
          <a:xfrm rot="69600">
            <a:off x="13693550" y="7854315"/>
            <a:ext cx="2196141" cy="0"/>
          </a:xfrm>
          <a:prstGeom prst="line">
            <a:avLst/>
          </a:prstGeom>
          <a:ln cap="rnd" w="19050">
            <a:solidFill>
              <a:srgbClr val="0D47A1"/>
            </a:solidFill>
            <a:prstDash val="solid"/>
            <a:headEnd type="triangle" len="med" w="lg"/>
            <a:tailEnd type="none" len="sm" w="sm"/>
          </a:ln>
        </p:spPr>
      </p:sp>
      <p:grpSp>
        <p:nvGrpSpPr>
          <p:cNvPr name="Group 25" id="25"/>
          <p:cNvGrpSpPr/>
          <p:nvPr/>
        </p:nvGrpSpPr>
        <p:grpSpPr>
          <a:xfrm rot="0">
            <a:off x="13191239" y="6058919"/>
            <a:ext cx="299723" cy="299723"/>
            <a:chOff x="0" y="0"/>
            <a:chExt cx="399631" cy="399631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99669" cy="399669"/>
            </a:xfrm>
            <a:custGeom>
              <a:avLst/>
              <a:gdLst/>
              <a:ahLst/>
              <a:cxnLst/>
              <a:rect r="r" b="b" t="t" l="l"/>
              <a:pathLst>
                <a:path h="399669" w="399669">
                  <a:moveTo>
                    <a:pt x="0" y="199771"/>
                  </a:moveTo>
                  <a:cubicBezTo>
                    <a:pt x="0" y="89408"/>
                    <a:pt x="89408" y="0"/>
                    <a:pt x="199771" y="0"/>
                  </a:cubicBezTo>
                  <a:cubicBezTo>
                    <a:pt x="310134" y="0"/>
                    <a:pt x="399669" y="89408"/>
                    <a:pt x="399669" y="199771"/>
                  </a:cubicBezTo>
                  <a:cubicBezTo>
                    <a:pt x="399669" y="310134"/>
                    <a:pt x="310134" y="399669"/>
                    <a:pt x="199771" y="399669"/>
                  </a:cubicBezTo>
                  <a:cubicBezTo>
                    <a:pt x="89408" y="399669"/>
                    <a:pt x="0" y="310134"/>
                    <a:pt x="0" y="199771"/>
                  </a:cubicBezTo>
                  <a:close/>
                </a:path>
              </a:pathLst>
            </a:custGeom>
            <a:solidFill>
              <a:srgbClr val="000000"/>
            </a:solidFill>
            <a:ln w="2540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13172951" y="6497831"/>
            <a:ext cx="354587" cy="354587"/>
            <a:chOff x="0" y="0"/>
            <a:chExt cx="472783" cy="472783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72821" cy="472821"/>
            </a:xfrm>
            <a:custGeom>
              <a:avLst/>
              <a:gdLst/>
              <a:ahLst/>
              <a:cxnLst/>
              <a:rect r="r" b="b" t="t" l="l"/>
              <a:pathLst>
                <a:path h="472821" w="472821">
                  <a:moveTo>
                    <a:pt x="0" y="236347"/>
                  </a:moveTo>
                  <a:cubicBezTo>
                    <a:pt x="0" y="105791"/>
                    <a:pt x="105791" y="0"/>
                    <a:pt x="236347" y="0"/>
                  </a:cubicBezTo>
                  <a:cubicBezTo>
                    <a:pt x="366903" y="0"/>
                    <a:pt x="472821" y="105791"/>
                    <a:pt x="472821" y="236347"/>
                  </a:cubicBezTo>
                  <a:cubicBezTo>
                    <a:pt x="472821" y="366903"/>
                    <a:pt x="366903" y="472821"/>
                    <a:pt x="236347" y="472821"/>
                  </a:cubicBezTo>
                  <a:cubicBezTo>
                    <a:pt x="105791" y="472821"/>
                    <a:pt x="0" y="366903"/>
                    <a:pt x="0" y="236347"/>
                  </a:cubicBezTo>
                  <a:close/>
                </a:path>
              </a:pathLst>
            </a:custGeom>
            <a:solidFill>
              <a:srgbClr val="D32F2F"/>
            </a:solidFill>
            <a:ln w="25400" cap="sq">
              <a:solidFill>
                <a:srgbClr val="FFFFFF"/>
              </a:solidFill>
              <a:prstDash val="solid"/>
              <a:miter/>
            </a:ln>
          </p:spPr>
        </p:sp>
      </p:grpSp>
      <p:sp>
        <p:nvSpPr>
          <p:cNvPr name="TextBox 29" id="29"/>
          <p:cNvSpPr txBox="true"/>
          <p:nvPr/>
        </p:nvSpPr>
        <p:spPr>
          <a:xfrm rot="0">
            <a:off x="12527280" y="5887212"/>
            <a:ext cx="54864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79"/>
              </a:lnSpc>
            </a:pPr>
            <a:r>
              <a:rPr lang="en-US" sz="2400" b="true">
                <a:solidFill>
                  <a:srgbClr val="13232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252960" y="6545580"/>
            <a:ext cx="82296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79"/>
              </a:lnSpc>
            </a:pPr>
            <a:r>
              <a:rPr lang="en-US" sz="2400" b="true">
                <a:solidFill>
                  <a:srgbClr val="D32F2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CP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4904720" y="5804535"/>
            <a:ext cx="2194560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639"/>
              </a:lnSpc>
            </a:pPr>
            <a:r>
              <a:rPr lang="en-US" sz="2199" b="true">
                <a:solidFill>
                  <a:srgbClr val="D32F2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Resultant F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731520"/>
            <a:ext cx="16459200" cy="1280160"/>
            <a:chOff x="0" y="0"/>
            <a:chExt cx="21945600" cy="17068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1945600" cy="17164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679"/>
                </a:lnSpc>
              </a:pPr>
              <a:r>
                <a:rPr lang="en-US" sz="6399" b="true">
                  <a:solidFill>
                    <a:srgbClr val="0B2F45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Formulas used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01703" y="2456183"/>
            <a:ext cx="8072123" cy="2951483"/>
            <a:chOff x="0" y="0"/>
            <a:chExt cx="10762831" cy="393531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762869" cy="3935349"/>
            </a:xfrm>
            <a:custGeom>
              <a:avLst/>
              <a:gdLst/>
              <a:ahLst/>
              <a:cxnLst/>
              <a:rect r="r" b="b" t="t" l="l"/>
              <a:pathLst>
                <a:path h="3935349" w="10762869">
                  <a:moveTo>
                    <a:pt x="0" y="245999"/>
                  </a:moveTo>
                  <a:cubicBezTo>
                    <a:pt x="0" y="110109"/>
                    <a:pt x="110109" y="0"/>
                    <a:pt x="245999" y="0"/>
                  </a:cubicBezTo>
                  <a:lnTo>
                    <a:pt x="10516870" y="0"/>
                  </a:lnTo>
                  <a:cubicBezTo>
                    <a:pt x="10652760" y="0"/>
                    <a:pt x="10762869" y="110109"/>
                    <a:pt x="10762869" y="245999"/>
                  </a:cubicBezTo>
                  <a:lnTo>
                    <a:pt x="10762869" y="3689350"/>
                  </a:lnTo>
                  <a:cubicBezTo>
                    <a:pt x="10762869" y="3825240"/>
                    <a:pt x="10652760" y="3935349"/>
                    <a:pt x="10516870" y="3935349"/>
                  </a:cubicBezTo>
                  <a:lnTo>
                    <a:pt x="245999" y="3935349"/>
                  </a:lnTo>
                  <a:cubicBezTo>
                    <a:pt x="110109" y="3935349"/>
                    <a:pt x="0" y="3825240"/>
                    <a:pt x="0" y="3689350"/>
                  </a:cubicBezTo>
                  <a:close/>
                </a:path>
              </a:pathLst>
            </a:custGeom>
            <a:solidFill>
              <a:srgbClr val="EAF3F9"/>
            </a:solidFill>
            <a:ln w="25400" cap="sq">
              <a:solidFill>
                <a:srgbClr val="EAF3F9"/>
              </a:solidFill>
              <a:prstDash val="solid"/>
              <a:miter/>
            </a:ln>
          </p:spPr>
        </p:sp>
      </p:grpSp>
      <p:sp>
        <p:nvSpPr>
          <p:cNvPr name="TextBox 7" id="7"/>
          <p:cNvSpPr txBox="true"/>
          <p:nvPr/>
        </p:nvSpPr>
        <p:spPr>
          <a:xfrm rot="0">
            <a:off x="1371600" y="2731389"/>
            <a:ext cx="7132320" cy="615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true">
                <a:solidFill>
                  <a:srgbClr val="1E88E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Total thrust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371600" y="3474720"/>
            <a:ext cx="7132320" cy="822960"/>
            <a:chOff x="0" y="0"/>
            <a:chExt cx="9509760" cy="10972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509760" cy="1097280"/>
            </a:xfrm>
            <a:custGeom>
              <a:avLst/>
              <a:gdLst/>
              <a:ahLst/>
              <a:cxnLst/>
              <a:rect r="r" b="b" t="t" l="l"/>
              <a:pathLst>
                <a:path h="109728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8870" r="0" b="-11887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9509760" cy="10972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560"/>
                </a:lnSpc>
              </a:pPr>
              <a:r>
                <a:rPr lang="en-US" sz="3800" b="true">
                  <a:solidFill>
                    <a:srgbClr val="0B2F45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F = ρ · g · h̄ · A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371600" y="4396359"/>
            <a:ext cx="7132320" cy="779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5B6B78"/>
                </a:solidFill>
                <a:latin typeface="Calibri (MS)"/>
                <a:ea typeface="Calibri (MS)"/>
                <a:cs typeface="Calibri (MS)"/>
                <a:sym typeface="Calibri (MS)"/>
              </a:rPr>
              <a:t>ρ density, g gravity, h̄ centroid depth, A area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314183" y="2456183"/>
            <a:ext cx="8072123" cy="2951483"/>
            <a:chOff x="0" y="0"/>
            <a:chExt cx="10762831" cy="393531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762869" cy="3935349"/>
            </a:xfrm>
            <a:custGeom>
              <a:avLst/>
              <a:gdLst/>
              <a:ahLst/>
              <a:cxnLst/>
              <a:rect r="r" b="b" t="t" l="l"/>
              <a:pathLst>
                <a:path h="3935349" w="10762869">
                  <a:moveTo>
                    <a:pt x="0" y="245999"/>
                  </a:moveTo>
                  <a:cubicBezTo>
                    <a:pt x="0" y="110109"/>
                    <a:pt x="110109" y="0"/>
                    <a:pt x="245999" y="0"/>
                  </a:cubicBezTo>
                  <a:lnTo>
                    <a:pt x="10516870" y="0"/>
                  </a:lnTo>
                  <a:cubicBezTo>
                    <a:pt x="10652760" y="0"/>
                    <a:pt x="10762869" y="110109"/>
                    <a:pt x="10762869" y="245999"/>
                  </a:cubicBezTo>
                  <a:lnTo>
                    <a:pt x="10762869" y="3689350"/>
                  </a:lnTo>
                  <a:cubicBezTo>
                    <a:pt x="10762869" y="3825240"/>
                    <a:pt x="10652760" y="3935349"/>
                    <a:pt x="10516870" y="3935349"/>
                  </a:cubicBezTo>
                  <a:lnTo>
                    <a:pt x="245999" y="3935349"/>
                  </a:lnTo>
                  <a:cubicBezTo>
                    <a:pt x="110109" y="3935349"/>
                    <a:pt x="0" y="3825240"/>
                    <a:pt x="0" y="3689350"/>
                  </a:cubicBezTo>
                  <a:close/>
                </a:path>
              </a:pathLst>
            </a:custGeom>
            <a:solidFill>
              <a:srgbClr val="EAF3F9"/>
            </a:solidFill>
            <a:ln w="25400" cap="sq">
              <a:solidFill>
                <a:srgbClr val="EAF3F9"/>
              </a:solidFill>
              <a:prstDash val="solid"/>
              <a:miter/>
            </a:ln>
          </p:spPr>
        </p:sp>
      </p:grpSp>
      <p:sp>
        <p:nvSpPr>
          <p:cNvPr name="TextBox 14" id="14"/>
          <p:cNvSpPr txBox="true"/>
          <p:nvPr/>
        </p:nvSpPr>
        <p:spPr>
          <a:xfrm rot="0">
            <a:off x="9784080" y="2731389"/>
            <a:ext cx="7132320" cy="615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true">
                <a:solidFill>
                  <a:srgbClr val="1E88E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Center of pressure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784080" y="3474720"/>
            <a:ext cx="7132320" cy="822960"/>
            <a:chOff x="0" y="0"/>
            <a:chExt cx="9509760" cy="109728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509760" cy="1097280"/>
            </a:xfrm>
            <a:custGeom>
              <a:avLst/>
              <a:gdLst/>
              <a:ahLst/>
              <a:cxnLst/>
              <a:rect r="r" b="b" t="t" l="l"/>
              <a:pathLst>
                <a:path h="109728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8870" r="0" b="-11887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9509760" cy="10972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560"/>
                </a:lnSpc>
              </a:pPr>
              <a:r>
                <a:rPr lang="en-US" sz="3800" b="true">
                  <a:solidFill>
                    <a:srgbClr val="0B2F45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h_cp = h̄ + I_G sin²θ / (A · h̄)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9784080" y="4396359"/>
            <a:ext cx="7132320" cy="779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5B6B78"/>
                </a:solidFill>
                <a:latin typeface="Calibri (MS)"/>
                <a:ea typeface="Calibri (MS)"/>
                <a:cs typeface="Calibri (MS)"/>
                <a:sym typeface="Calibri (MS)"/>
              </a:rPr>
              <a:t>θ is the angle of the plate with the free surface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901703" y="5748023"/>
            <a:ext cx="8072123" cy="2951483"/>
            <a:chOff x="0" y="0"/>
            <a:chExt cx="10762831" cy="393531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762869" cy="3935349"/>
            </a:xfrm>
            <a:custGeom>
              <a:avLst/>
              <a:gdLst/>
              <a:ahLst/>
              <a:cxnLst/>
              <a:rect r="r" b="b" t="t" l="l"/>
              <a:pathLst>
                <a:path h="3935349" w="10762869">
                  <a:moveTo>
                    <a:pt x="0" y="245999"/>
                  </a:moveTo>
                  <a:cubicBezTo>
                    <a:pt x="0" y="110109"/>
                    <a:pt x="110109" y="0"/>
                    <a:pt x="245999" y="0"/>
                  </a:cubicBezTo>
                  <a:lnTo>
                    <a:pt x="10516870" y="0"/>
                  </a:lnTo>
                  <a:cubicBezTo>
                    <a:pt x="10652760" y="0"/>
                    <a:pt x="10762869" y="110109"/>
                    <a:pt x="10762869" y="245999"/>
                  </a:cubicBezTo>
                  <a:lnTo>
                    <a:pt x="10762869" y="3689350"/>
                  </a:lnTo>
                  <a:cubicBezTo>
                    <a:pt x="10762869" y="3825240"/>
                    <a:pt x="10652760" y="3935349"/>
                    <a:pt x="10516870" y="3935349"/>
                  </a:cubicBezTo>
                  <a:lnTo>
                    <a:pt x="245999" y="3935349"/>
                  </a:lnTo>
                  <a:cubicBezTo>
                    <a:pt x="110109" y="3935349"/>
                    <a:pt x="0" y="3825240"/>
                    <a:pt x="0" y="3689350"/>
                  </a:cubicBezTo>
                  <a:close/>
                </a:path>
              </a:pathLst>
            </a:custGeom>
            <a:solidFill>
              <a:srgbClr val="EAF3F9"/>
            </a:solidFill>
            <a:ln w="25400" cap="sq">
              <a:solidFill>
                <a:srgbClr val="EAF3F9"/>
              </a:solidFill>
              <a:prstDash val="solid"/>
              <a:miter/>
            </a:ln>
          </p:spPr>
        </p:sp>
      </p:grpSp>
      <p:sp>
        <p:nvSpPr>
          <p:cNvPr name="TextBox 21" id="21"/>
          <p:cNvSpPr txBox="true"/>
          <p:nvPr/>
        </p:nvSpPr>
        <p:spPr>
          <a:xfrm rot="0">
            <a:off x="1371600" y="6023229"/>
            <a:ext cx="7132320" cy="615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true">
                <a:solidFill>
                  <a:srgbClr val="1E88E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Rectangular plate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371600" y="6766560"/>
            <a:ext cx="7132320" cy="822960"/>
            <a:chOff x="0" y="0"/>
            <a:chExt cx="9509760" cy="109728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509760" cy="1097280"/>
            </a:xfrm>
            <a:custGeom>
              <a:avLst/>
              <a:gdLst/>
              <a:ahLst/>
              <a:cxnLst/>
              <a:rect r="r" b="b" t="t" l="l"/>
              <a:pathLst>
                <a:path h="109728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8870" r="0" b="-11887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0"/>
              <a:ext cx="9509760" cy="10972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560"/>
                </a:lnSpc>
              </a:pPr>
              <a:r>
                <a:rPr lang="en-US" sz="3800" b="true">
                  <a:solidFill>
                    <a:srgbClr val="0B2F45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 = b·h    I_G = b·h³ / 12</a:t>
              </a: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1371600" y="7688199"/>
            <a:ext cx="7132320" cy="779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5B6B78"/>
                </a:solidFill>
                <a:latin typeface="Calibri (MS)"/>
                <a:ea typeface="Calibri (MS)"/>
                <a:cs typeface="Calibri (MS)"/>
                <a:sym typeface="Calibri (MS)"/>
              </a:rPr>
              <a:t>h̄ = H + (h / 2) sinθ, with H the depth of the top edge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9314183" y="5748023"/>
            <a:ext cx="8072123" cy="2951483"/>
            <a:chOff x="0" y="0"/>
            <a:chExt cx="10762831" cy="393531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762869" cy="3935349"/>
            </a:xfrm>
            <a:custGeom>
              <a:avLst/>
              <a:gdLst/>
              <a:ahLst/>
              <a:cxnLst/>
              <a:rect r="r" b="b" t="t" l="l"/>
              <a:pathLst>
                <a:path h="3935349" w="10762869">
                  <a:moveTo>
                    <a:pt x="0" y="245999"/>
                  </a:moveTo>
                  <a:cubicBezTo>
                    <a:pt x="0" y="110109"/>
                    <a:pt x="110109" y="0"/>
                    <a:pt x="245999" y="0"/>
                  </a:cubicBezTo>
                  <a:lnTo>
                    <a:pt x="10516870" y="0"/>
                  </a:lnTo>
                  <a:cubicBezTo>
                    <a:pt x="10652760" y="0"/>
                    <a:pt x="10762869" y="110109"/>
                    <a:pt x="10762869" y="245999"/>
                  </a:cubicBezTo>
                  <a:lnTo>
                    <a:pt x="10762869" y="3689350"/>
                  </a:lnTo>
                  <a:cubicBezTo>
                    <a:pt x="10762869" y="3825240"/>
                    <a:pt x="10652760" y="3935349"/>
                    <a:pt x="10516870" y="3935349"/>
                  </a:cubicBezTo>
                  <a:lnTo>
                    <a:pt x="245999" y="3935349"/>
                  </a:lnTo>
                  <a:cubicBezTo>
                    <a:pt x="110109" y="3935349"/>
                    <a:pt x="0" y="3825240"/>
                    <a:pt x="0" y="3689350"/>
                  </a:cubicBezTo>
                  <a:close/>
                </a:path>
              </a:pathLst>
            </a:custGeom>
            <a:solidFill>
              <a:srgbClr val="EAF3F9"/>
            </a:solidFill>
            <a:ln w="25400" cap="sq">
              <a:solidFill>
                <a:srgbClr val="EAF3F9"/>
              </a:solidFill>
              <a:prstDash val="solid"/>
              <a:miter/>
            </a:ln>
          </p:spPr>
        </p:sp>
      </p:grpSp>
      <p:sp>
        <p:nvSpPr>
          <p:cNvPr name="TextBox 28" id="28"/>
          <p:cNvSpPr txBox="true"/>
          <p:nvPr/>
        </p:nvSpPr>
        <p:spPr>
          <a:xfrm rot="0">
            <a:off x="9784080" y="6023229"/>
            <a:ext cx="7132320" cy="615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true">
                <a:solidFill>
                  <a:srgbClr val="1E88E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Circular plate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9784080" y="6766560"/>
            <a:ext cx="7132320" cy="822960"/>
            <a:chOff x="0" y="0"/>
            <a:chExt cx="9509760" cy="109728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509760" cy="1097280"/>
            </a:xfrm>
            <a:custGeom>
              <a:avLst/>
              <a:gdLst/>
              <a:ahLst/>
              <a:cxnLst/>
              <a:rect r="r" b="b" t="t" l="l"/>
              <a:pathLst>
                <a:path h="109728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8870" r="0" b="-11887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0"/>
              <a:ext cx="9509760" cy="10972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560"/>
                </a:lnSpc>
              </a:pPr>
              <a:r>
                <a:rPr lang="en-US" sz="3800" b="true">
                  <a:solidFill>
                    <a:srgbClr val="0B2F45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 = πR²    I_G = πR⁴ / 4</a:t>
              </a: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9784080" y="7688199"/>
            <a:ext cx="7132320" cy="779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5B6B78"/>
                </a:solidFill>
                <a:latin typeface="Calibri (MS)"/>
                <a:ea typeface="Calibri (MS)"/>
                <a:cs typeface="Calibri (MS)"/>
                <a:sym typeface="Calibri (MS)"/>
              </a:rPr>
              <a:t>h̄ = H, the depth of the centre of the circle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731520"/>
            <a:ext cx="16459200" cy="1280160"/>
            <a:chOff x="0" y="0"/>
            <a:chExt cx="21945600" cy="17068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1945600" cy="17164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679"/>
                </a:lnSpc>
              </a:pPr>
              <a:r>
                <a:rPr lang="en-US" sz="6399" b="true">
                  <a:solidFill>
                    <a:srgbClr val="0B2F45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App features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01703" y="2456183"/>
            <a:ext cx="5237483" cy="3042923"/>
            <a:chOff x="0" y="0"/>
            <a:chExt cx="6983311" cy="405723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983222" cy="4057142"/>
            </a:xfrm>
            <a:custGeom>
              <a:avLst/>
              <a:gdLst/>
              <a:ahLst/>
              <a:cxnLst/>
              <a:rect r="r" b="b" t="t" l="l"/>
              <a:pathLst>
                <a:path h="4057142" w="6983222">
                  <a:moveTo>
                    <a:pt x="0" y="245872"/>
                  </a:moveTo>
                  <a:cubicBezTo>
                    <a:pt x="0" y="110109"/>
                    <a:pt x="110109" y="0"/>
                    <a:pt x="245872" y="0"/>
                  </a:cubicBezTo>
                  <a:lnTo>
                    <a:pt x="6737350" y="0"/>
                  </a:lnTo>
                  <a:cubicBezTo>
                    <a:pt x="6873113" y="0"/>
                    <a:pt x="6983222" y="110109"/>
                    <a:pt x="6983222" y="245872"/>
                  </a:cubicBezTo>
                  <a:lnTo>
                    <a:pt x="6983222" y="3811270"/>
                  </a:lnTo>
                  <a:cubicBezTo>
                    <a:pt x="6983222" y="3947033"/>
                    <a:pt x="6873113" y="4057142"/>
                    <a:pt x="6737350" y="4057142"/>
                  </a:cubicBezTo>
                  <a:lnTo>
                    <a:pt x="245872" y="4057142"/>
                  </a:lnTo>
                  <a:cubicBezTo>
                    <a:pt x="110109" y="4057269"/>
                    <a:pt x="0" y="3947160"/>
                    <a:pt x="0" y="3811270"/>
                  </a:cubicBezTo>
                  <a:close/>
                </a:path>
              </a:pathLst>
            </a:custGeom>
            <a:solidFill>
              <a:srgbClr val="EAF3F9"/>
            </a:solidFill>
            <a:ln w="25400" cap="sq">
              <a:solidFill>
                <a:srgbClr val="EAF3F9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267463" y="2821943"/>
            <a:ext cx="793499" cy="793499"/>
            <a:chOff x="0" y="0"/>
            <a:chExt cx="1057999" cy="105799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58037" cy="1058037"/>
            </a:xfrm>
            <a:custGeom>
              <a:avLst/>
              <a:gdLst/>
              <a:ahLst/>
              <a:cxnLst/>
              <a:rect r="r" b="b" t="t" l="l"/>
              <a:pathLst>
                <a:path h="1058037" w="1058037">
                  <a:moveTo>
                    <a:pt x="0" y="528955"/>
                  </a:moveTo>
                  <a:cubicBezTo>
                    <a:pt x="0" y="236855"/>
                    <a:pt x="236855" y="0"/>
                    <a:pt x="528955" y="0"/>
                  </a:cubicBezTo>
                  <a:cubicBezTo>
                    <a:pt x="821055" y="0"/>
                    <a:pt x="1058037" y="236855"/>
                    <a:pt x="1058037" y="528955"/>
                  </a:cubicBezTo>
                  <a:cubicBezTo>
                    <a:pt x="1058037" y="821055"/>
                    <a:pt x="821182" y="1058037"/>
                    <a:pt x="528955" y="1058037"/>
                  </a:cubicBezTo>
                  <a:cubicBezTo>
                    <a:pt x="236728" y="1058037"/>
                    <a:pt x="0" y="821182"/>
                    <a:pt x="0" y="528955"/>
                  </a:cubicBezTo>
                  <a:close/>
                </a:path>
              </a:pathLst>
            </a:custGeom>
            <a:solidFill>
              <a:srgbClr val="1E88E5"/>
            </a:solidFill>
            <a:ln w="25400" cap="sq">
              <a:solidFill>
                <a:srgbClr val="1E88E5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280160" y="2834640"/>
            <a:ext cx="768096" cy="768096"/>
            <a:chOff x="0" y="0"/>
            <a:chExt cx="1024128" cy="102412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1024128" cy="10431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ρ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2286000" y="2834640"/>
            <a:ext cx="3566160" cy="768096"/>
            <a:chOff x="0" y="0"/>
            <a:chExt cx="4754880" cy="102412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754880" cy="1024128"/>
            </a:xfrm>
            <a:custGeom>
              <a:avLst/>
              <a:gdLst/>
              <a:ahLst/>
              <a:cxnLst/>
              <a:rect r="r" b="b" t="t" l="l"/>
              <a:pathLst>
                <a:path h="1024128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0466" r="0" b="-40466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66675"/>
              <a:ext cx="4754880" cy="10908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0B2F4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Many fluids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280160" y="3857244"/>
            <a:ext cx="4572000" cy="1501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13232F"/>
                </a:solidFill>
                <a:latin typeface="Calibri (MS)"/>
                <a:ea typeface="Calibri (MS)"/>
                <a:cs typeface="Calibri (MS)"/>
                <a:sym typeface="Calibri (MS)"/>
              </a:rPr>
              <a:t>Water, sea water, oil, petrol, glycerin, mercury, or a custom density and colour.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6525263" y="2456183"/>
            <a:ext cx="5237483" cy="3042923"/>
            <a:chOff x="0" y="0"/>
            <a:chExt cx="6983311" cy="405723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983222" cy="4057142"/>
            </a:xfrm>
            <a:custGeom>
              <a:avLst/>
              <a:gdLst/>
              <a:ahLst/>
              <a:cxnLst/>
              <a:rect r="r" b="b" t="t" l="l"/>
              <a:pathLst>
                <a:path h="4057142" w="6983222">
                  <a:moveTo>
                    <a:pt x="0" y="245872"/>
                  </a:moveTo>
                  <a:cubicBezTo>
                    <a:pt x="0" y="110109"/>
                    <a:pt x="110109" y="0"/>
                    <a:pt x="245872" y="0"/>
                  </a:cubicBezTo>
                  <a:lnTo>
                    <a:pt x="6737350" y="0"/>
                  </a:lnTo>
                  <a:cubicBezTo>
                    <a:pt x="6873113" y="0"/>
                    <a:pt x="6983222" y="110109"/>
                    <a:pt x="6983222" y="245872"/>
                  </a:cubicBezTo>
                  <a:lnTo>
                    <a:pt x="6983222" y="3811270"/>
                  </a:lnTo>
                  <a:cubicBezTo>
                    <a:pt x="6983222" y="3947033"/>
                    <a:pt x="6873113" y="4057142"/>
                    <a:pt x="6737350" y="4057142"/>
                  </a:cubicBezTo>
                  <a:lnTo>
                    <a:pt x="245872" y="4057142"/>
                  </a:lnTo>
                  <a:cubicBezTo>
                    <a:pt x="110109" y="4057269"/>
                    <a:pt x="0" y="3947160"/>
                    <a:pt x="0" y="3811270"/>
                  </a:cubicBezTo>
                  <a:close/>
                </a:path>
              </a:pathLst>
            </a:custGeom>
            <a:solidFill>
              <a:srgbClr val="EAF3F9"/>
            </a:solidFill>
            <a:ln w="25400" cap="sq">
              <a:solidFill>
                <a:srgbClr val="EAF3F9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6891023" y="2821943"/>
            <a:ext cx="793499" cy="793499"/>
            <a:chOff x="0" y="0"/>
            <a:chExt cx="1057999" cy="105799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58037" cy="1058037"/>
            </a:xfrm>
            <a:custGeom>
              <a:avLst/>
              <a:gdLst/>
              <a:ahLst/>
              <a:cxnLst/>
              <a:rect r="r" b="b" t="t" l="l"/>
              <a:pathLst>
                <a:path h="1058037" w="1058037">
                  <a:moveTo>
                    <a:pt x="0" y="528955"/>
                  </a:moveTo>
                  <a:cubicBezTo>
                    <a:pt x="0" y="236855"/>
                    <a:pt x="236855" y="0"/>
                    <a:pt x="528955" y="0"/>
                  </a:cubicBezTo>
                  <a:cubicBezTo>
                    <a:pt x="821055" y="0"/>
                    <a:pt x="1058037" y="236855"/>
                    <a:pt x="1058037" y="528955"/>
                  </a:cubicBezTo>
                  <a:cubicBezTo>
                    <a:pt x="1058037" y="821055"/>
                    <a:pt x="821182" y="1058037"/>
                    <a:pt x="528955" y="1058037"/>
                  </a:cubicBezTo>
                  <a:cubicBezTo>
                    <a:pt x="236728" y="1058037"/>
                    <a:pt x="0" y="821182"/>
                    <a:pt x="0" y="528955"/>
                  </a:cubicBezTo>
                  <a:close/>
                </a:path>
              </a:pathLst>
            </a:custGeom>
            <a:solidFill>
              <a:srgbClr val="1E88E5"/>
            </a:solidFill>
            <a:ln w="25400" cap="sq">
              <a:solidFill>
                <a:srgbClr val="1E88E5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6903720" y="2834640"/>
            <a:ext cx="768096" cy="768096"/>
            <a:chOff x="0" y="0"/>
            <a:chExt cx="1024128" cy="102412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19050"/>
              <a:ext cx="1024128" cy="10431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θ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7909560" y="2834640"/>
            <a:ext cx="3566160" cy="768096"/>
            <a:chOff x="0" y="0"/>
            <a:chExt cx="4754880" cy="102412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754880" cy="1024128"/>
            </a:xfrm>
            <a:custGeom>
              <a:avLst/>
              <a:gdLst/>
              <a:ahLst/>
              <a:cxnLst/>
              <a:rect r="r" b="b" t="t" l="l"/>
              <a:pathLst>
                <a:path h="1024128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0466" r="0" b="-40466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66675"/>
              <a:ext cx="4754880" cy="10908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0B2F4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Any geometry</a:t>
              </a: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6903720" y="3857244"/>
            <a:ext cx="4572000" cy="1501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13232F"/>
                </a:solidFill>
                <a:latin typeface="Calibri (MS)"/>
                <a:ea typeface="Calibri (MS)"/>
                <a:cs typeface="Calibri (MS)"/>
                <a:sym typeface="Calibri (MS)"/>
              </a:rPr>
              <a:t>Rectangular or circular plate, vertical or inclined at any angle.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2148823" y="2456183"/>
            <a:ext cx="5237483" cy="3042923"/>
            <a:chOff x="0" y="0"/>
            <a:chExt cx="6983311" cy="4057231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983222" cy="4057142"/>
            </a:xfrm>
            <a:custGeom>
              <a:avLst/>
              <a:gdLst/>
              <a:ahLst/>
              <a:cxnLst/>
              <a:rect r="r" b="b" t="t" l="l"/>
              <a:pathLst>
                <a:path h="4057142" w="6983222">
                  <a:moveTo>
                    <a:pt x="0" y="245872"/>
                  </a:moveTo>
                  <a:cubicBezTo>
                    <a:pt x="0" y="110109"/>
                    <a:pt x="110109" y="0"/>
                    <a:pt x="245872" y="0"/>
                  </a:cubicBezTo>
                  <a:lnTo>
                    <a:pt x="6737350" y="0"/>
                  </a:lnTo>
                  <a:cubicBezTo>
                    <a:pt x="6873113" y="0"/>
                    <a:pt x="6983222" y="110109"/>
                    <a:pt x="6983222" y="245872"/>
                  </a:cubicBezTo>
                  <a:lnTo>
                    <a:pt x="6983222" y="3811270"/>
                  </a:lnTo>
                  <a:cubicBezTo>
                    <a:pt x="6983222" y="3947033"/>
                    <a:pt x="6873113" y="4057142"/>
                    <a:pt x="6737350" y="4057142"/>
                  </a:cubicBezTo>
                  <a:lnTo>
                    <a:pt x="245872" y="4057142"/>
                  </a:lnTo>
                  <a:cubicBezTo>
                    <a:pt x="110109" y="4057269"/>
                    <a:pt x="0" y="3947160"/>
                    <a:pt x="0" y="3811270"/>
                  </a:cubicBezTo>
                  <a:close/>
                </a:path>
              </a:pathLst>
            </a:custGeom>
            <a:solidFill>
              <a:srgbClr val="EAF3F9"/>
            </a:solidFill>
            <a:ln w="25400" cap="sq">
              <a:solidFill>
                <a:srgbClr val="EAF3F9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12514583" y="2821943"/>
            <a:ext cx="793499" cy="793499"/>
            <a:chOff x="0" y="0"/>
            <a:chExt cx="1057999" cy="1057999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58037" cy="1058037"/>
            </a:xfrm>
            <a:custGeom>
              <a:avLst/>
              <a:gdLst/>
              <a:ahLst/>
              <a:cxnLst/>
              <a:rect r="r" b="b" t="t" l="l"/>
              <a:pathLst>
                <a:path h="1058037" w="1058037">
                  <a:moveTo>
                    <a:pt x="0" y="528955"/>
                  </a:moveTo>
                  <a:cubicBezTo>
                    <a:pt x="0" y="236855"/>
                    <a:pt x="236855" y="0"/>
                    <a:pt x="528955" y="0"/>
                  </a:cubicBezTo>
                  <a:cubicBezTo>
                    <a:pt x="821055" y="0"/>
                    <a:pt x="1058037" y="236855"/>
                    <a:pt x="1058037" y="528955"/>
                  </a:cubicBezTo>
                  <a:cubicBezTo>
                    <a:pt x="1058037" y="821055"/>
                    <a:pt x="821182" y="1058037"/>
                    <a:pt x="528955" y="1058037"/>
                  </a:cubicBezTo>
                  <a:cubicBezTo>
                    <a:pt x="236728" y="1058037"/>
                    <a:pt x="0" y="821182"/>
                    <a:pt x="0" y="528955"/>
                  </a:cubicBezTo>
                  <a:close/>
                </a:path>
              </a:pathLst>
            </a:custGeom>
            <a:solidFill>
              <a:srgbClr val="1E88E5"/>
            </a:solidFill>
            <a:ln w="25400" cap="sq">
              <a:solidFill>
                <a:srgbClr val="1E88E5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12527280" y="2834640"/>
            <a:ext cx="768096" cy="768096"/>
            <a:chOff x="0" y="0"/>
            <a:chExt cx="1024128" cy="1024128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19050"/>
              <a:ext cx="1024128" cy="10431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▶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3533120" y="2834640"/>
            <a:ext cx="3566160" cy="768096"/>
            <a:chOff x="0" y="0"/>
            <a:chExt cx="4754880" cy="1024128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4754880" cy="1024128"/>
            </a:xfrm>
            <a:custGeom>
              <a:avLst/>
              <a:gdLst/>
              <a:ahLst/>
              <a:cxnLst/>
              <a:rect r="r" b="b" t="t" l="l"/>
              <a:pathLst>
                <a:path h="1024128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0466" r="0" b="-40466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66675"/>
              <a:ext cx="4754880" cy="10908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0B2F4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Live animation</a:t>
              </a: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12527280" y="3857244"/>
            <a:ext cx="4572000" cy="1501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13232F"/>
                </a:solidFill>
                <a:latin typeface="Calibri (MS)"/>
                <a:ea typeface="Calibri (MS)"/>
                <a:cs typeface="Calibri (MS)"/>
                <a:sym typeface="Calibri (MS)"/>
              </a:rPr>
              <a:t>The tank refills and pressure arrows redraw for every new input.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901703" y="5839463"/>
            <a:ext cx="5237483" cy="3042923"/>
            <a:chOff x="0" y="0"/>
            <a:chExt cx="6983311" cy="4057231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6983222" cy="4057142"/>
            </a:xfrm>
            <a:custGeom>
              <a:avLst/>
              <a:gdLst/>
              <a:ahLst/>
              <a:cxnLst/>
              <a:rect r="r" b="b" t="t" l="l"/>
              <a:pathLst>
                <a:path h="4057142" w="6983222">
                  <a:moveTo>
                    <a:pt x="0" y="245872"/>
                  </a:moveTo>
                  <a:cubicBezTo>
                    <a:pt x="0" y="110109"/>
                    <a:pt x="110109" y="0"/>
                    <a:pt x="245872" y="0"/>
                  </a:cubicBezTo>
                  <a:lnTo>
                    <a:pt x="6737350" y="0"/>
                  </a:lnTo>
                  <a:cubicBezTo>
                    <a:pt x="6873113" y="0"/>
                    <a:pt x="6983222" y="110109"/>
                    <a:pt x="6983222" y="245872"/>
                  </a:cubicBezTo>
                  <a:lnTo>
                    <a:pt x="6983222" y="3811270"/>
                  </a:lnTo>
                  <a:cubicBezTo>
                    <a:pt x="6983222" y="3947033"/>
                    <a:pt x="6873113" y="4057142"/>
                    <a:pt x="6737350" y="4057142"/>
                  </a:cubicBezTo>
                  <a:lnTo>
                    <a:pt x="245872" y="4057142"/>
                  </a:lnTo>
                  <a:cubicBezTo>
                    <a:pt x="110109" y="4057269"/>
                    <a:pt x="0" y="3947160"/>
                    <a:pt x="0" y="3811270"/>
                  </a:cubicBezTo>
                  <a:close/>
                </a:path>
              </a:pathLst>
            </a:custGeom>
            <a:solidFill>
              <a:srgbClr val="EAF3F9"/>
            </a:solidFill>
            <a:ln w="25400" cap="sq">
              <a:solidFill>
                <a:srgbClr val="EAF3F9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1267463" y="6205223"/>
            <a:ext cx="793499" cy="793499"/>
            <a:chOff x="0" y="0"/>
            <a:chExt cx="1057999" cy="1057999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058037" cy="1058037"/>
            </a:xfrm>
            <a:custGeom>
              <a:avLst/>
              <a:gdLst/>
              <a:ahLst/>
              <a:cxnLst/>
              <a:rect r="r" b="b" t="t" l="l"/>
              <a:pathLst>
                <a:path h="1058037" w="1058037">
                  <a:moveTo>
                    <a:pt x="0" y="528955"/>
                  </a:moveTo>
                  <a:cubicBezTo>
                    <a:pt x="0" y="236855"/>
                    <a:pt x="236855" y="0"/>
                    <a:pt x="528955" y="0"/>
                  </a:cubicBezTo>
                  <a:cubicBezTo>
                    <a:pt x="821055" y="0"/>
                    <a:pt x="1058037" y="236855"/>
                    <a:pt x="1058037" y="528955"/>
                  </a:cubicBezTo>
                  <a:cubicBezTo>
                    <a:pt x="1058037" y="821055"/>
                    <a:pt x="821182" y="1058037"/>
                    <a:pt x="528955" y="1058037"/>
                  </a:cubicBezTo>
                  <a:cubicBezTo>
                    <a:pt x="236728" y="1058037"/>
                    <a:pt x="0" y="821182"/>
                    <a:pt x="0" y="528955"/>
                  </a:cubicBezTo>
                  <a:close/>
                </a:path>
              </a:pathLst>
            </a:custGeom>
            <a:solidFill>
              <a:srgbClr val="1E88E5"/>
            </a:solidFill>
            <a:ln w="25400" cap="sq">
              <a:solidFill>
                <a:srgbClr val="1E88E5"/>
              </a:solidFill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1280160" y="6217920"/>
            <a:ext cx="768096" cy="768096"/>
            <a:chOff x="0" y="0"/>
            <a:chExt cx="1024128" cy="1024128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19050"/>
              <a:ext cx="1024128" cy="10431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F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2286000" y="6217920"/>
            <a:ext cx="3566160" cy="768096"/>
            <a:chOff x="0" y="0"/>
            <a:chExt cx="4754880" cy="1024128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4754880" cy="1024128"/>
            </a:xfrm>
            <a:custGeom>
              <a:avLst/>
              <a:gdLst/>
              <a:ahLst/>
              <a:cxnLst/>
              <a:rect r="r" b="b" t="t" l="l"/>
              <a:pathLst>
                <a:path h="1024128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0466" r="0" b="-40466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66675"/>
              <a:ext cx="4754880" cy="10908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0B2F4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Instant results</a:t>
              </a:r>
            </a:p>
          </p:txBody>
        </p:sp>
      </p:grpSp>
      <p:sp>
        <p:nvSpPr>
          <p:cNvPr name="TextBox 48" id="48"/>
          <p:cNvSpPr txBox="true"/>
          <p:nvPr/>
        </p:nvSpPr>
        <p:spPr>
          <a:xfrm rot="0">
            <a:off x="1280160" y="7240524"/>
            <a:ext cx="4572000" cy="1501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13232F"/>
                </a:solidFill>
                <a:latin typeface="Calibri (MS)"/>
                <a:ea typeface="Calibri (MS)"/>
                <a:cs typeface="Calibri (MS)"/>
                <a:sym typeface="Calibri (MS)"/>
              </a:rPr>
              <a:t>Thrust, CP depth, area, I_G and horizontal and vertical components.</a:t>
            </a:r>
          </a:p>
        </p:txBody>
      </p:sp>
      <p:grpSp>
        <p:nvGrpSpPr>
          <p:cNvPr name="Group 49" id="49"/>
          <p:cNvGrpSpPr/>
          <p:nvPr/>
        </p:nvGrpSpPr>
        <p:grpSpPr>
          <a:xfrm rot="0">
            <a:off x="6525263" y="5839463"/>
            <a:ext cx="5237483" cy="3042923"/>
            <a:chOff x="0" y="0"/>
            <a:chExt cx="6983311" cy="4057231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6983222" cy="4057142"/>
            </a:xfrm>
            <a:custGeom>
              <a:avLst/>
              <a:gdLst/>
              <a:ahLst/>
              <a:cxnLst/>
              <a:rect r="r" b="b" t="t" l="l"/>
              <a:pathLst>
                <a:path h="4057142" w="6983222">
                  <a:moveTo>
                    <a:pt x="0" y="245872"/>
                  </a:moveTo>
                  <a:cubicBezTo>
                    <a:pt x="0" y="110109"/>
                    <a:pt x="110109" y="0"/>
                    <a:pt x="245872" y="0"/>
                  </a:cubicBezTo>
                  <a:lnTo>
                    <a:pt x="6737350" y="0"/>
                  </a:lnTo>
                  <a:cubicBezTo>
                    <a:pt x="6873113" y="0"/>
                    <a:pt x="6983222" y="110109"/>
                    <a:pt x="6983222" y="245872"/>
                  </a:cubicBezTo>
                  <a:lnTo>
                    <a:pt x="6983222" y="3811270"/>
                  </a:lnTo>
                  <a:cubicBezTo>
                    <a:pt x="6983222" y="3947033"/>
                    <a:pt x="6873113" y="4057142"/>
                    <a:pt x="6737350" y="4057142"/>
                  </a:cubicBezTo>
                  <a:lnTo>
                    <a:pt x="245872" y="4057142"/>
                  </a:lnTo>
                  <a:cubicBezTo>
                    <a:pt x="110109" y="4057269"/>
                    <a:pt x="0" y="3947160"/>
                    <a:pt x="0" y="3811270"/>
                  </a:cubicBezTo>
                  <a:close/>
                </a:path>
              </a:pathLst>
            </a:custGeom>
            <a:solidFill>
              <a:srgbClr val="EAF3F9"/>
            </a:solidFill>
            <a:ln w="25400" cap="sq">
              <a:solidFill>
                <a:srgbClr val="EAF3F9"/>
              </a:solidFill>
              <a:prstDash val="solid"/>
              <a:miter/>
            </a:ln>
          </p:spPr>
        </p:sp>
      </p:grpSp>
      <p:grpSp>
        <p:nvGrpSpPr>
          <p:cNvPr name="Group 51" id="51"/>
          <p:cNvGrpSpPr/>
          <p:nvPr/>
        </p:nvGrpSpPr>
        <p:grpSpPr>
          <a:xfrm rot="0">
            <a:off x="6891023" y="6205223"/>
            <a:ext cx="793499" cy="793499"/>
            <a:chOff x="0" y="0"/>
            <a:chExt cx="1057999" cy="1057999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058037" cy="1058037"/>
            </a:xfrm>
            <a:custGeom>
              <a:avLst/>
              <a:gdLst/>
              <a:ahLst/>
              <a:cxnLst/>
              <a:rect r="r" b="b" t="t" l="l"/>
              <a:pathLst>
                <a:path h="1058037" w="1058037">
                  <a:moveTo>
                    <a:pt x="0" y="528955"/>
                  </a:moveTo>
                  <a:cubicBezTo>
                    <a:pt x="0" y="236855"/>
                    <a:pt x="236855" y="0"/>
                    <a:pt x="528955" y="0"/>
                  </a:cubicBezTo>
                  <a:cubicBezTo>
                    <a:pt x="821055" y="0"/>
                    <a:pt x="1058037" y="236855"/>
                    <a:pt x="1058037" y="528955"/>
                  </a:cubicBezTo>
                  <a:cubicBezTo>
                    <a:pt x="1058037" y="821055"/>
                    <a:pt x="821182" y="1058037"/>
                    <a:pt x="528955" y="1058037"/>
                  </a:cubicBezTo>
                  <a:cubicBezTo>
                    <a:pt x="236728" y="1058037"/>
                    <a:pt x="0" y="821182"/>
                    <a:pt x="0" y="528955"/>
                  </a:cubicBezTo>
                  <a:close/>
                </a:path>
              </a:pathLst>
            </a:custGeom>
            <a:solidFill>
              <a:srgbClr val="1E88E5"/>
            </a:solidFill>
            <a:ln w="25400" cap="sq">
              <a:solidFill>
                <a:srgbClr val="1E88E5"/>
              </a:solidFill>
              <a:prstDash val="solid"/>
              <a:miter/>
            </a:ln>
          </p:spPr>
        </p:sp>
      </p:grpSp>
      <p:grpSp>
        <p:nvGrpSpPr>
          <p:cNvPr name="Group 53" id="53"/>
          <p:cNvGrpSpPr/>
          <p:nvPr/>
        </p:nvGrpSpPr>
        <p:grpSpPr>
          <a:xfrm rot="0">
            <a:off x="6903720" y="6217920"/>
            <a:ext cx="768096" cy="768096"/>
            <a:chOff x="0" y="0"/>
            <a:chExt cx="1024128" cy="1024128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19050"/>
              <a:ext cx="1024128" cy="10431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!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7909560" y="6217920"/>
            <a:ext cx="3566160" cy="768096"/>
            <a:chOff x="0" y="0"/>
            <a:chExt cx="4754880" cy="1024128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4754880" cy="1024128"/>
            </a:xfrm>
            <a:custGeom>
              <a:avLst/>
              <a:gdLst/>
              <a:ahLst/>
              <a:cxnLst/>
              <a:rect r="r" b="b" t="t" l="l"/>
              <a:pathLst>
                <a:path h="1024128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0466" r="0" b="-40466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66675"/>
              <a:ext cx="4754880" cy="10908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0B2F4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Validation</a:t>
              </a:r>
            </a:p>
          </p:txBody>
        </p:sp>
      </p:grpSp>
      <p:sp>
        <p:nvSpPr>
          <p:cNvPr name="TextBox 59" id="59"/>
          <p:cNvSpPr txBox="true"/>
          <p:nvPr/>
        </p:nvSpPr>
        <p:spPr>
          <a:xfrm rot="0">
            <a:off x="6903720" y="7240524"/>
            <a:ext cx="4572000" cy="1501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13232F"/>
                </a:solidFill>
                <a:latin typeface="Calibri (MS)"/>
                <a:ea typeface="Calibri (MS)"/>
                <a:cs typeface="Calibri (MS)"/>
                <a:sym typeface="Calibri (MS)"/>
              </a:rPr>
              <a:t>Clear errors for zero, negative or impossible values. No upper limit on inputs.</a:t>
            </a:r>
          </a:p>
        </p:txBody>
      </p:sp>
      <p:grpSp>
        <p:nvGrpSpPr>
          <p:cNvPr name="Group 60" id="60"/>
          <p:cNvGrpSpPr/>
          <p:nvPr/>
        </p:nvGrpSpPr>
        <p:grpSpPr>
          <a:xfrm rot="0">
            <a:off x="12148823" y="5839463"/>
            <a:ext cx="5237483" cy="3042923"/>
            <a:chOff x="0" y="0"/>
            <a:chExt cx="6983311" cy="4057231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6983222" cy="4057142"/>
            </a:xfrm>
            <a:custGeom>
              <a:avLst/>
              <a:gdLst/>
              <a:ahLst/>
              <a:cxnLst/>
              <a:rect r="r" b="b" t="t" l="l"/>
              <a:pathLst>
                <a:path h="4057142" w="6983222">
                  <a:moveTo>
                    <a:pt x="0" y="245872"/>
                  </a:moveTo>
                  <a:cubicBezTo>
                    <a:pt x="0" y="110109"/>
                    <a:pt x="110109" y="0"/>
                    <a:pt x="245872" y="0"/>
                  </a:cubicBezTo>
                  <a:lnTo>
                    <a:pt x="6737350" y="0"/>
                  </a:lnTo>
                  <a:cubicBezTo>
                    <a:pt x="6873113" y="0"/>
                    <a:pt x="6983222" y="110109"/>
                    <a:pt x="6983222" y="245872"/>
                  </a:cubicBezTo>
                  <a:lnTo>
                    <a:pt x="6983222" y="3811270"/>
                  </a:lnTo>
                  <a:cubicBezTo>
                    <a:pt x="6983222" y="3947033"/>
                    <a:pt x="6873113" y="4057142"/>
                    <a:pt x="6737350" y="4057142"/>
                  </a:cubicBezTo>
                  <a:lnTo>
                    <a:pt x="245872" y="4057142"/>
                  </a:lnTo>
                  <a:cubicBezTo>
                    <a:pt x="110109" y="4057269"/>
                    <a:pt x="0" y="3947160"/>
                    <a:pt x="0" y="3811270"/>
                  </a:cubicBezTo>
                  <a:close/>
                </a:path>
              </a:pathLst>
            </a:custGeom>
            <a:solidFill>
              <a:srgbClr val="EAF3F9"/>
            </a:solidFill>
            <a:ln w="25400" cap="sq">
              <a:solidFill>
                <a:srgbClr val="EAF3F9"/>
              </a:solidFill>
              <a:prstDash val="solid"/>
              <a:miter/>
            </a:ln>
          </p:spPr>
        </p:sp>
      </p:grpSp>
      <p:grpSp>
        <p:nvGrpSpPr>
          <p:cNvPr name="Group 62" id="62"/>
          <p:cNvGrpSpPr/>
          <p:nvPr/>
        </p:nvGrpSpPr>
        <p:grpSpPr>
          <a:xfrm rot="0">
            <a:off x="12514583" y="6205223"/>
            <a:ext cx="793499" cy="793499"/>
            <a:chOff x="0" y="0"/>
            <a:chExt cx="1057999" cy="1057999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058037" cy="1058037"/>
            </a:xfrm>
            <a:custGeom>
              <a:avLst/>
              <a:gdLst/>
              <a:ahLst/>
              <a:cxnLst/>
              <a:rect r="r" b="b" t="t" l="l"/>
              <a:pathLst>
                <a:path h="1058037" w="1058037">
                  <a:moveTo>
                    <a:pt x="0" y="528955"/>
                  </a:moveTo>
                  <a:cubicBezTo>
                    <a:pt x="0" y="236855"/>
                    <a:pt x="236855" y="0"/>
                    <a:pt x="528955" y="0"/>
                  </a:cubicBezTo>
                  <a:cubicBezTo>
                    <a:pt x="821055" y="0"/>
                    <a:pt x="1058037" y="236855"/>
                    <a:pt x="1058037" y="528955"/>
                  </a:cubicBezTo>
                  <a:cubicBezTo>
                    <a:pt x="1058037" y="821055"/>
                    <a:pt x="821182" y="1058037"/>
                    <a:pt x="528955" y="1058037"/>
                  </a:cubicBezTo>
                  <a:cubicBezTo>
                    <a:pt x="236728" y="1058037"/>
                    <a:pt x="0" y="821182"/>
                    <a:pt x="0" y="528955"/>
                  </a:cubicBezTo>
                  <a:close/>
                </a:path>
              </a:pathLst>
            </a:custGeom>
            <a:solidFill>
              <a:srgbClr val="1E88E5"/>
            </a:solidFill>
            <a:ln w="25400" cap="sq">
              <a:solidFill>
                <a:srgbClr val="1E88E5"/>
              </a:solidFill>
              <a:prstDash val="solid"/>
              <a:miter/>
            </a:ln>
          </p:spPr>
        </p:sp>
      </p:grpSp>
      <p:grpSp>
        <p:nvGrpSpPr>
          <p:cNvPr name="Group 64" id="64"/>
          <p:cNvGrpSpPr/>
          <p:nvPr/>
        </p:nvGrpSpPr>
        <p:grpSpPr>
          <a:xfrm rot="0">
            <a:off x="12527280" y="6217920"/>
            <a:ext cx="768096" cy="768096"/>
            <a:chOff x="0" y="0"/>
            <a:chExt cx="1024128" cy="1024128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19050"/>
              <a:ext cx="1024128" cy="10431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↗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13533120" y="6217920"/>
            <a:ext cx="3566160" cy="768096"/>
            <a:chOff x="0" y="0"/>
            <a:chExt cx="4754880" cy="1024128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4754880" cy="1024128"/>
            </a:xfrm>
            <a:custGeom>
              <a:avLst/>
              <a:gdLst/>
              <a:ahLst/>
              <a:cxnLst/>
              <a:rect r="r" b="b" t="t" l="l"/>
              <a:pathLst>
                <a:path h="1024128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0466" r="0" b="-40466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66675"/>
              <a:ext cx="4754880" cy="10908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0B2F4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Graphs</a:t>
              </a:r>
            </a:p>
          </p:txBody>
        </p:sp>
      </p:grpSp>
      <p:sp>
        <p:nvSpPr>
          <p:cNvPr name="TextBox 70" id="70"/>
          <p:cNvSpPr txBox="true"/>
          <p:nvPr/>
        </p:nvSpPr>
        <p:spPr>
          <a:xfrm rot="0">
            <a:off x="12527280" y="7240524"/>
            <a:ext cx="4572000" cy="1501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13232F"/>
                </a:solidFill>
                <a:latin typeface="Calibri (MS)"/>
                <a:ea typeface="Calibri (MS)"/>
                <a:cs typeface="Calibri (MS)"/>
                <a:sym typeface="Calibri (MS)"/>
              </a:rPr>
              <a:t>Pressure distribution and CP gap vs depth, with labelled axes and gridlines.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731520"/>
            <a:ext cx="16459200" cy="1280160"/>
            <a:chOff x="0" y="0"/>
            <a:chExt cx="21945600" cy="17068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1945600" cy="17164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679"/>
                </a:lnSpc>
              </a:pPr>
              <a:r>
                <a:rPr lang="en-US" sz="6399" b="true">
                  <a:solidFill>
                    <a:srgbClr val="0B2F45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Manual vs app: worked example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914400" y="2137410"/>
            <a:ext cx="16459200" cy="605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5B6B78"/>
                </a:solidFill>
                <a:latin typeface="Calibri (MS)"/>
                <a:ea typeface="Calibri (MS)"/>
                <a:cs typeface="Calibri (MS)"/>
                <a:sym typeface="Calibri (MS)"/>
              </a:rPr>
              <a:t>Water, rectangular plate b = 2 m, h = 3 m, top edge H = 1 m, vertical (θ = 90°)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901703" y="3187703"/>
            <a:ext cx="6426203" cy="1671323"/>
            <a:chOff x="0" y="0"/>
            <a:chExt cx="8568271" cy="222843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568309" cy="2228469"/>
            </a:xfrm>
            <a:custGeom>
              <a:avLst/>
              <a:gdLst/>
              <a:ahLst/>
              <a:cxnLst/>
              <a:rect r="r" b="b" t="t" l="l"/>
              <a:pathLst>
                <a:path h="2228469" w="8568309">
                  <a:moveTo>
                    <a:pt x="0" y="247650"/>
                  </a:moveTo>
                  <a:cubicBezTo>
                    <a:pt x="0" y="110871"/>
                    <a:pt x="110871" y="0"/>
                    <a:pt x="247650" y="0"/>
                  </a:cubicBezTo>
                  <a:lnTo>
                    <a:pt x="8320659" y="0"/>
                  </a:lnTo>
                  <a:cubicBezTo>
                    <a:pt x="8457438" y="0"/>
                    <a:pt x="8568309" y="110871"/>
                    <a:pt x="8568309" y="247650"/>
                  </a:cubicBezTo>
                  <a:lnTo>
                    <a:pt x="8568309" y="1980819"/>
                  </a:lnTo>
                  <a:cubicBezTo>
                    <a:pt x="8568309" y="2117598"/>
                    <a:pt x="8457438" y="2228469"/>
                    <a:pt x="8320659" y="2228469"/>
                  </a:cubicBezTo>
                  <a:lnTo>
                    <a:pt x="247650" y="2228469"/>
                  </a:lnTo>
                  <a:cubicBezTo>
                    <a:pt x="110871" y="2228469"/>
                    <a:pt x="0" y="2117598"/>
                    <a:pt x="0" y="1980819"/>
                  </a:cubicBezTo>
                  <a:close/>
                </a:path>
              </a:pathLst>
            </a:custGeom>
            <a:solidFill>
              <a:srgbClr val="EAF3F9"/>
            </a:solidFill>
            <a:ln w="25400" cap="sq">
              <a:solidFill>
                <a:srgbClr val="EAF3F9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1280160" y="3346704"/>
            <a:ext cx="5669280" cy="822960"/>
            <a:chOff x="0" y="0"/>
            <a:chExt cx="7559040" cy="10972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5590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4230" r="0" b="-8423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7559040" cy="11068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9" b="true">
                  <a:solidFill>
                    <a:srgbClr val="0B2F45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147.15 kN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280160" y="4168140"/>
            <a:ext cx="5669280" cy="550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5B6B78"/>
                </a:solidFill>
                <a:latin typeface="Calibri (MS)"/>
                <a:ea typeface="Calibri (MS)"/>
                <a:cs typeface="Calibri (MS)"/>
                <a:sym typeface="Calibri (MS)"/>
              </a:rPr>
              <a:t>Total thrust F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01703" y="5107943"/>
            <a:ext cx="6426203" cy="1671323"/>
            <a:chOff x="0" y="0"/>
            <a:chExt cx="8568271" cy="222843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568309" cy="2228469"/>
            </a:xfrm>
            <a:custGeom>
              <a:avLst/>
              <a:gdLst/>
              <a:ahLst/>
              <a:cxnLst/>
              <a:rect r="r" b="b" t="t" l="l"/>
              <a:pathLst>
                <a:path h="2228469" w="8568309">
                  <a:moveTo>
                    <a:pt x="0" y="247650"/>
                  </a:moveTo>
                  <a:cubicBezTo>
                    <a:pt x="0" y="110871"/>
                    <a:pt x="110871" y="0"/>
                    <a:pt x="247650" y="0"/>
                  </a:cubicBezTo>
                  <a:lnTo>
                    <a:pt x="8320659" y="0"/>
                  </a:lnTo>
                  <a:cubicBezTo>
                    <a:pt x="8457438" y="0"/>
                    <a:pt x="8568309" y="110871"/>
                    <a:pt x="8568309" y="247650"/>
                  </a:cubicBezTo>
                  <a:lnTo>
                    <a:pt x="8568309" y="1980819"/>
                  </a:lnTo>
                  <a:cubicBezTo>
                    <a:pt x="8568309" y="2117598"/>
                    <a:pt x="8457438" y="2228469"/>
                    <a:pt x="8320659" y="2228469"/>
                  </a:cubicBezTo>
                  <a:lnTo>
                    <a:pt x="247650" y="2228469"/>
                  </a:lnTo>
                  <a:cubicBezTo>
                    <a:pt x="110871" y="2228469"/>
                    <a:pt x="0" y="2117598"/>
                    <a:pt x="0" y="1980819"/>
                  </a:cubicBezTo>
                  <a:close/>
                </a:path>
              </a:pathLst>
            </a:custGeom>
            <a:solidFill>
              <a:srgbClr val="EAF3F9"/>
            </a:solidFill>
            <a:ln w="25400" cap="sq">
              <a:solidFill>
                <a:srgbClr val="EAF3F9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280160" y="5266944"/>
            <a:ext cx="5669280" cy="822960"/>
            <a:chOff x="0" y="0"/>
            <a:chExt cx="7559040" cy="10972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5590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4230" r="0" b="-8423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"/>
              <a:ext cx="7559040" cy="11068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9" b="true">
                  <a:solidFill>
                    <a:srgbClr val="D32F2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2.80 m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280160" y="6088380"/>
            <a:ext cx="5669280" cy="550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5B6B78"/>
                </a:solidFill>
                <a:latin typeface="Calibri (MS)"/>
                <a:ea typeface="Calibri (MS)"/>
                <a:cs typeface="Calibri (MS)"/>
                <a:sym typeface="Calibri (MS)"/>
              </a:rPr>
              <a:t>Center of pressure h_cp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901703" y="7028183"/>
            <a:ext cx="6426203" cy="1671323"/>
            <a:chOff x="0" y="0"/>
            <a:chExt cx="8568271" cy="222843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568309" cy="2228469"/>
            </a:xfrm>
            <a:custGeom>
              <a:avLst/>
              <a:gdLst/>
              <a:ahLst/>
              <a:cxnLst/>
              <a:rect r="r" b="b" t="t" l="l"/>
              <a:pathLst>
                <a:path h="2228469" w="8568309">
                  <a:moveTo>
                    <a:pt x="0" y="247650"/>
                  </a:moveTo>
                  <a:cubicBezTo>
                    <a:pt x="0" y="110871"/>
                    <a:pt x="110871" y="0"/>
                    <a:pt x="247650" y="0"/>
                  </a:cubicBezTo>
                  <a:lnTo>
                    <a:pt x="8320659" y="0"/>
                  </a:lnTo>
                  <a:cubicBezTo>
                    <a:pt x="8457438" y="0"/>
                    <a:pt x="8568309" y="110871"/>
                    <a:pt x="8568309" y="247650"/>
                  </a:cubicBezTo>
                  <a:lnTo>
                    <a:pt x="8568309" y="1980819"/>
                  </a:lnTo>
                  <a:cubicBezTo>
                    <a:pt x="8568309" y="2117598"/>
                    <a:pt x="8457438" y="2228469"/>
                    <a:pt x="8320659" y="2228469"/>
                  </a:cubicBezTo>
                  <a:lnTo>
                    <a:pt x="247650" y="2228469"/>
                  </a:lnTo>
                  <a:cubicBezTo>
                    <a:pt x="110871" y="2228469"/>
                    <a:pt x="0" y="2117598"/>
                    <a:pt x="0" y="1980819"/>
                  </a:cubicBezTo>
                  <a:close/>
                </a:path>
              </a:pathLst>
            </a:custGeom>
            <a:solidFill>
              <a:srgbClr val="EAF3F9"/>
            </a:solidFill>
            <a:ln w="25400" cap="sq">
              <a:solidFill>
                <a:srgbClr val="EAF3F9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1280160" y="7187184"/>
            <a:ext cx="5669280" cy="822960"/>
            <a:chOff x="0" y="0"/>
            <a:chExt cx="7559040" cy="109728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5590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4230" r="0" b="-8423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7559040" cy="11068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9" b="true">
                  <a:solidFill>
                    <a:srgbClr val="0B2F45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0.30 m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280160" y="8008620"/>
            <a:ext cx="5669280" cy="550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5B6B78"/>
                </a:solidFill>
                <a:latin typeface="Calibri (MS)"/>
                <a:ea typeface="Calibri (MS)"/>
                <a:cs typeface="Calibri (MS)"/>
                <a:sym typeface="Calibri (MS)"/>
              </a:rPr>
              <a:t>CP below centroid (h̄ = 2.5 m)</a:t>
            </a:r>
          </a:p>
        </p:txBody>
      </p:sp>
      <p:pic>
        <p:nvPicPr>
          <p:cNvPr name="Picture 24" id="2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912864" y="2157984"/>
            <a:ext cx="11411712" cy="7205472"/>
          </a:xfrm>
          <a:prstGeom prst="rect">
            <a:avLst/>
          </a:prstGeom>
        </p:spPr>
      </p:pic>
      <p:sp>
        <p:nvSpPr>
          <p:cNvPr name="TextBox 25" id="25"/>
          <p:cNvSpPr txBox="true"/>
          <p:nvPr/>
        </p:nvSpPr>
        <p:spPr>
          <a:xfrm rot="0">
            <a:off x="914400" y="8831580"/>
            <a:ext cx="16459200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13232F"/>
                </a:solidFill>
                <a:latin typeface="Calibri (MS)"/>
                <a:ea typeface="Calibri (MS)"/>
                <a:cs typeface="Calibri (MS)"/>
                <a:sym typeface="Calibri (MS)"/>
              </a:rPr>
              <a:t>By hand: F = 1000 × 9.81 × 2.5 × 6 = 147 150 N, and h_cp = 2.5 + 4.5 / (6 × 2.5) = 2.8 m. The app uses the same formulas and gives the same values (0 % error).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553775" y="3927483"/>
            <a:ext cx="15180450" cy="22796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63"/>
              </a:lnSpc>
            </a:pPr>
            <a:r>
              <a:rPr lang="en-US" sz="7052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Now, let's look at the submarine example </a:t>
            </a:r>
          </a:p>
          <a:p>
            <a:pPr algn="ctr">
              <a:lnSpc>
                <a:spcPts val="8463"/>
              </a:lnSpc>
              <a:spcBef>
                <a:spcPct val="0"/>
              </a:spcBef>
            </a:pPr>
            <a:r>
              <a:rPr lang="en-US" sz="7052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and a demo of the app.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743200" y="2743200"/>
            <a:ext cx="12801600" cy="5541264"/>
            <a:chOff x="0" y="0"/>
            <a:chExt cx="17068800" cy="7388352"/>
          </a:xfrm>
        </p:grpSpPr>
        <p:sp>
          <p:nvSpPr>
            <p:cNvPr name="Freeform 4" id="4" descr="/home/claude/sub/submarine.png"/>
            <p:cNvSpPr/>
            <p:nvPr/>
          </p:nvSpPr>
          <p:spPr>
            <a:xfrm flipH="false" flipV="false" rot="0">
              <a:off x="0" y="0"/>
              <a:ext cx="17068800" cy="7388352"/>
            </a:xfrm>
            <a:custGeom>
              <a:avLst/>
              <a:gdLst/>
              <a:ahLst/>
              <a:cxnLst/>
              <a:rect r="r" b="b" t="t" l="l"/>
              <a:pathLst>
                <a:path h="7388352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7388352"/>
                  </a:lnTo>
                  <a:lnTo>
                    <a:pt x="0" y="73883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55" r="0" b="-55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914400" y="731520"/>
            <a:ext cx="16459200" cy="1737360"/>
            <a:chOff x="0" y="0"/>
            <a:chExt cx="21945600" cy="23164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2316480"/>
            </a:xfrm>
            <a:custGeom>
              <a:avLst/>
              <a:gdLst/>
              <a:ahLst/>
              <a:cxnLst/>
              <a:rect r="r" b="b" t="t" l="l"/>
              <a:pathLst>
                <a:path h="23164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316480"/>
                  </a:lnTo>
                  <a:lnTo>
                    <a:pt x="0" y="23164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34595" r="0" b="-13459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1945600" cy="23355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2960"/>
                </a:lnSpc>
              </a:pPr>
              <a:r>
                <a:rPr lang="en-US" b="true" sz="10800" spc="1199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SUBMARINE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14400" y="8686800"/>
            <a:ext cx="16459200" cy="822960"/>
            <a:chOff x="0" y="0"/>
            <a:chExt cx="21945600" cy="10972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85725"/>
              <a:ext cx="21945600" cy="11830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799"/>
                </a:lnSpc>
              </a:pPr>
              <a:r>
                <a:rPr lang="en-US" sz="3999">
                  <a:solidFill>
                    <a:srgbClr val="DCEEF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Hydrostatic force on a submarine hatch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14400" y="548640"/>
            <a:ext cx="16459200" cy="914400"/>
            <a:chOff x="0" y="0"/>
            <a:chExt cx="21945600" cy="12192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0730" r="0" b="-300730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9525"/>
              <a:ext cx="21945600" cy="1228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9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Live demo of the app</a:t>
              </a:r>
            </a:p>
          </p:txBody>
        </p:sp>
      </p:grpSp>
      <p:pic>
        <p:nvPicPr>
          <p:cNvPr name="Picture 6" id="6">
            <a:hlinkClick action="ppaction://media"/>
          </p:cNvPr>
          <p:cNvPicPr>
            <a:picLocks noChangeAspect="true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6"/>
              </p:ext>
            </p:extLst>
          </p:nvPr>
        </p:nvPicPr>
        <p:blipFill>
          <a:blip r:embed="rId4"/>
          <a:srcRect l="0" t="9" r="0" b="9"/>
          <a:stretch>
            <a:fillRect/>
          </a:stretch>
        </p:blipFill>
        <p:spPr>
          <a:xfrm flipH="false" flipV="false" rot="0">
            <a:off x="914400" y="1737360"/>
            <a:ext cx="16459200" cy="757123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</p:timing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731520"/>
            <a:ext cx="16459200" cy="1280160"/>
            <a:chOff x="0" y="0"/>
            <a:chExt cx="21945600" cy="17068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1945600" cy="17164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679"/>
                </a:lnSpc>
              </a:pPr>
              <a:r>
                <a:rPr lang="en-US" sz="6399" b="true">
                  <a:solidFill>
                    <a:srgbClr val="0B2F45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Submarine hatch example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01703" y="2456183"/>
            <a:ext cx="7340603" cy="6426203"/>
            <a:chOff x="0" y="0"/>
            <a:chExt cx="9787471" cy="856827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787510" cy="8568310"/>
            </a:xfrm>
            <a:custGeom>
              <a:avLst/>
              <a:gdLst/>
              <a:ahLst/>
              <a:cxnLst/>
              <a:rect r="r" b="b" t="t" l="l"/>
              <a:pathLst>
                <a:path h="8568310" w="9787510">
                  <a:moveTo>
                    <a:pt x="0" y="244856"/>
                  </a:moveTo>
                  <a:cubicBezTo>
                    <a:pt x="0" y="109601"/>
                    <a:pt x="109601" y="0"/>
                    <a:pt x="244856" y="0"/>
                  </a:cubicBezTo>
                  <a:lnTo>
                    <a:pt x="9542653" y="0"/>
                  </a:lnTo>
                  <a:cubicBezTo>
                    <a:pt x="9677908" y="0"/>
                    <a:pt x="9787510" y="109601"/>
                    <a:pt x="9787510" y="244856"/>
                  </a:cubicBezTo>
                  <a:lnTo>
                    <a:pt x="9787510" y="8323453"/>
                  </a:lnTo>
                  <a:cubicBezTo>
                    <a:pt x="9787510" y="8458708"/>
                    <a:pt x="9677908" y="8568310"/>
                    <a:pt x="9542653" y="8568310"/>
                  </a:cubicBezTo>
                  <a:lnTo>
                    <a:pt x="244856" y="8568310"/>
                  </a:lnTo>
                  <a:cubicBezTo>
                    <a:pt x="109601" y="8568309"/>
                    <a:pt x="0" y="8458708"/>
                    <a:pt x="0" y="8323453"/>
                  </a:cubicBezTo>
                  <a:close/>
                </a:path>
              </a:pathLst>
            </a:custGeom>
            <a:solidFill>
              <a:srgbClr val="EAF3F9"/>
            </a:solidFill>
            <a:ln w="25400" cap="sq">
              <a:solidFill>
                <a:srgbClr val="EAF3F9"/>
              </a:solidFill>
              <a:prstDash val="solid"/>
              <a:miter/>
            </a:ln>
          </p:spPr>
        </p:sp>
      </p:grpSp>
      <p:sp>
        <p:nvSpPr>
          <p:cNvPr name="TextBox 7" id="7"/>
          <p:cNvSpPr txBox="true"/>
          <p:nvPr/>
        </p:nvSpPr>
        <p:spPr>
          <a:xfrm rot="0">
            <a:off x="1463040" y="2777490"/>
            <a:ext cx="6217920" cy="697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1E88E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Inputs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63040" y="3682365"/>
            <a:ext cx="6217920" cy="4821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75639" indent="-33782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13232F"/>
                </a:solidFill>
                <a:latin typeface="Calibri (MS)"/>
                <a:ea typeface="Calibri (MS)"/>
                <a:cs typeface="Calibri (MS)"/>
                <a:sym typeface="Calibri (MS)"/>
              </a:rPr>
              <a:t>Liquid: sea water (1025 kg/m³)</a:t>
            </a:r>
          </a:p>
          <a:p>
            <a:pPr algn="l" marL="675639" indent="-33782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13232F"/>
                </a:solidFill>
                <a:latin typeface="Calibri (MS)"/>
                <a:ea typeface="Calibri (MS)"/>
                <a:cs typeface="Calibri (MS)"/>
                <a:sym typeface="Calibri (MS)"/>
              </a:rPr>
              <a:t>Plate: circular hatch, vertical</a:t>
            </a:r>
          </a:p>
          <a:p>
            <a:pPr algn="l" marL="675639" indent="-33782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13232F"/>
                </a:solidFill>
                <a:latin typeface="Calibri (MS)"/>
                <a:ea typeface="Calibri (MS)"/>
                <a:cs typeface="Calibri (MS)"/>
                <a:sym typeface="Calibri (MS)"/>
              </a:rPr>
              <a:t>Radius R = 0.5 m</a:t>
            </a:r>
          </a:p>
          <a:p>
            <a:pPr algn="l" marL="675639" indent="-33782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13232F"/>
                </a:solidFill>
                <a:latin typeface="Calibri (MS)"/>
                <a:ea typeface="Calibri (MS)"/>
                <a:cs typeface="Calibri (MS)"/>
                <a:sym typeface="Calibri (MS)"/>
              </a:rPr>
              <a:t>Depth of centre H = 100 m</a:t>
            </a:r>
          </a:p>
          <a:p>
            <a:pPr algn="l" marL="675639" indent="-33782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13232F"/>
                </a:solidFill>
                <a:latin typeface="Calibri (MS)"/>
                <a:ea typeface="Calibri (MS)"/>
                <a:cs typeface="Calibri (MS)"/>
                <a:sym typeface="Calibri (MS)"/>
              </a:rPr>
              <a:t>Length unit: m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8765543" y="2456183"/>
            <a:ext cx="8620763" cy="1945643"/>
            <a:chOff x="0" y="0"/>
            <a:chExt cx="11494351" cy="259419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494262" cy="2594102"/>
            </a:xfrm>
            <a:custGeom>
              <a:avLst/>
              <a:gdLst/>
              <a:ahLst/>
              <a:cxnLst/>
              <a:rect r="r" b="b" t="t" l="l"/>
              <a:pathLst>
                <a:path h="2594102" w="11494262">
                  <a:moveTo>
                    <a:pt x="0" y="247015"/>
                  </a:moveTo>
                  <a:cubicBezTo>
                    <a:pt x="0" y="110617"/>
                    <a:pt x="110617" y="0"/>
                    <a:pt x="247015" y="0"/>
                  </a:cubicBezTo>
                  <a:lnTo>
                    <a:pt x="11247247" y="0"/>
                  </a:lnTo>
                  <a:cubicBezTo>
                    <a:pt x="11383645" y="0"/>
                    <a:pt x="11494262" y="110617"/>
                    <a:pt x="11494262" y="247015"/>
                  </a:cubicBezTo>
                  <a:lnTo>
                    <a:pt x="11494262" y="2347087"/>
                  </a:lnTo>
                  <a:cubicBezTo>
                    <a:pt x="11494262" y="2483485"/>
                    <a:pt x="11383645" y="2594102"/>
                    <a:pt x="11247247" y="2594102"/>
                  </a:cubicBezTo>
                  <a:lnTo>
                    <a:pt x="247015" y="2594102"/>
                  </a:lnTo>
                  <a:cubicBezTo>
                    <a:pt x="110617" y="2594229"/>
                    <a:pt x="0" y="2483612"/>
                    <a:pt x="0" y="2347087"/>
                  </a:cubicBezTo>
                  <a:close/>
                </a:path>
              </a:pathLst>
            </a:custGeom>
            <a:solidFill>
              <a:srgbClr val="EAF3F9"/>
            </a:solidFill>
            <a:ln w="25400" cap="sq">
              <a:solidFill>
                <a:srgbClr val="EAF3F9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9235440" y="2651760"/>
            <a:ext cx="7680960" cy="914400"/>
            <a:chOff x="0" y="0"/>
            <a:chExt cx="10241280" cy="12192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2412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3674" r="0" b="-113674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10241280" cy="1228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20"/>
                </a:lnSpc>
              </a:pPr>
              <a:r>
                <a:rPr lang="en-US" sz="5600" b="true">
                  <a:solidFill>
                    <a:srgbClr val="0B2F45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789.7 kN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9235440" y="3619500"/>
            <a:ext cx="7680960" cy="586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5B6B78"/>
                </a:solidFill>
                <a:latin typeface="Calibri (MS)"/>
                <a:ea typeface="Calibri (MS)"/>
                <a:cs typeface="Calibri (MS)"/>
                <a:sym typeface="Calibri (MS)"/>
              </a:rPr>
              <a:t>Total thrust F, about 80 tonnes of force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8765543" y="4650743"/>
            <a:ext cx="8620763" cy="1945643"/>
            <a:chOff x="0" y="0"/>
            <a:chExt cx="11494351" cy="259419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1494262" cy="2594102"/>
            </a:xfrm>
            <a:custGeom>
              <a:avLst/>
              <a:gdLst/>
              <a:ahLst/>
              <a:cxnLst/>
              <a:rect r="r" b="b" t="t" l="l"/>
              <a:pathLst>
                <a:path h="2594102" w="11494262">
                  <a:moveTo>
                    <a:pt x="0" y="247015"/>
                  </a:moveTo>
                  <a:cubicBezTo>
                    <a:pt x="0" y="110617"/>
                    <a:pt x="110617" y="0"/>
                    <a:pt x="247015" y="0"/>
                  </a:cubicBezTo>
                  <a:lnTo>
                    <a:pt x="11247247" y="0"/>
                  </a:lnTo>
                  <a:cubicBezTo>
                    <a:pt x="11383645" y="0"/>
                    <a:pt x="11494262" y="110617"/>
                    <a:pt x="11494262" y="247015"/>
                  </a:cubicBezTo>
                  <a:lnTo>
                    <a:pt x="11494262" y="2347087"/>
                  </a:lnTo>
                  <a:cubicBezTo>
                    <a:pt x="11494262" y="2483485"/>
                    <a:pt x="11383645" y="2594102"/>
                    <a:pt x="11247247" y="2594102"/>
                  </a:cubicBezTo>
                  <a:lnTo>
                    <a:pt x="247015" y="2594102"/>
                  </a:lnTo>
                  <a:cubicBezTo>
                    <a:pt x="110617" y="2594229"/>
                    <a:pt x="0" y="2483612"/>
                    <a:pt x="0" y="2347087"/>
                  </a:cubicBezTo>
                  <a:close/>
                </a:path>
              </a:pathLst>
            </a:custGeom>
            <a:solidFill>
              <a:srgbClr val="EAF3F9"/>
            </a:solidFill>
            <a:ln w="25400" cap="sq">
              <a:solidFill>
                <a:srgbClr val="EAF3F9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9235440" y="4846320"/>
            <a:ext cx="7680960" cy="914400"/>
            <a:chOff x="0" y="0"/>
            <a:chExt cx="10241280" cy="12192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2412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3674" r="0" b="-113674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9525"/>
              <a:ext cx="10241280" cy="1228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20"/>
                </a:lnSpc>
              </a:pPr>
              <a:r>
                <a:rPr lang="en-US" sz="5600" b="true">
                  <a:solidFill>
                    <a:srgbClr val="0B2F45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1005.5 kPa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9235440" y="5814060"/>
            <a:ext cx="7680960" cy="586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5B6B78"/>
                </a:solidFill>
                <a:latin typeface="Calibri (MS)"/>
                <a:ea typeface="Calibri (MS)"/>
                <a:cs typeface="Calibri (MS)"/>
                <a:sym typeface="Calibri (MS)"/>
              </a:rPr>
              <a:t>Pressure at the centroid, about 1 MPa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8765543" y="6845303"/>
            <a:ext cx="8620763" cy="1945643"/>
            <a:chOff x="0" y="0"/>
            <a:chExt cx="11494351" cy="2594191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1494262" cy="2594102"/>
            </a:xfrm>
            <a:custGeom>
              <a:avLst/>
              <a:gdLst/>
              <a:ahLst/>
              <a:cxnLst/>
              <a:rect r="r" b="b" t="t" l="l"/>
              <a:pathLst>
                <a:path h="2594102" w="11494262">
                  <a:moveTo>
                    <a:pt x="0" y="247015"/>
                  </a:moveTo>
                  <a:cubicBezTo>
                    <a:pt x="0" y="110617"/>
                    <a:pt x="110617" y="0"/>
                    <a:pt x="247015" y="0"/>
                  </a:cubicBezTo>
                  <a:lnTo>
                    <a:pt x="11247247" y="0"/>
                  </a:lnTo>
                  <a:cubicBezTo>
                    <a:pt x="11383645" y="0"/>
                    <a:pt x="11494262" y="110617"/>
                    <a:pt x="11494262" y="247015"/>
                  </a:cubicBezTo>
                  <a:lnTo>
                    <a:pt x="11494262" y="2347087"/>
                  </a:lnTo>
                  <a:cubicBezTo>
                    <a:pt x="11494262" y="2483485"/>
                    <a:pt x="11383645" y="2594102"/>
                    <a:pt x="11247247" y="2594102"/>
                  </a:cubicBezTo>
                  <a:lnTo>
                    <a:pt x="247015" y="2594102"/>
                  </a:lnTo>
                  <a:cubicBezTo>
                    <a:pt x="110617" y="2594229"/>
                    <a:pt x="0" y="2483612"/>
                    <a:pt x="0" y="2347087"/>
                  </a:cubicBezTo>
                  <a:close/>
                </a:path>
              </a:pathLst>
            </a:custGeom>
            <a:solidFill>
              <a:srgbClr val="EAF3F9"/>
            </a:solidFill>
            <a:ln w="25400" cap="sq">
              <a:solidFill>
                <a:srgbClr val="EAF3F9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9235440" y="7040880"/>
            <a:ext cx="7680960" cy="914400"/>
            <a:chOff x="0" y="0"/>
            <a:chExt cx="10241280" cy="12192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24128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3674" r="0" b="-113674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"/>
              <a:ext cx="10241280" cy="1228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20"/>
                </a:lnSpc>
              </a:pPr>
              <a:r>
                <a:rPr lang="en-US" sz="5600" b="true">
                  <a:solidFill>
                    <a:srgbClr val="D32F2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0.625 mm</a:t>
              </a: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9235440" y="8008620"/>
            <a:ext cx="7680960" cy="586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5B6B78"/>
                </a:solidFill>
                <a:latin typeface="Calibri (MS)"/>
                <a:ea typeface="Calibri (MS)"/>
                <a:cs typeface="Calibri (MS)"/>
                <a:sym typeface="Calibri (MS)"/>
              </a:rPr>
              <a:t>CP below centroid, so h_cp = 100.0006 m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731520"/>
            <a:ext cx="16459200" cy="1280160"/>
            <a:chOff x="0" y="0"/>
            <a:chExt cx="21945600" cy="17068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1945600" cy="17164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679"/>
                </a:lnSpc>
              </a:pPr>
              <a:r>
                <a:rPr lang="en-US" sz="6399" b="true">
                  <a:solidFill>
                    <a:srgbClr val="0B2F45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My role and workflow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01703" y="2456183"/>
            <a:ext cx="16484603" cy="2311403"/>
            <a:chOff x="0" y="0"/>
            <a:chExt cx="21979471" cy="308187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79382" cy="3081782"/>
            </a:xfrm>
            <a:custGeom>
              <a:avLst/>
              <a:gdLst/>
              <a:ahLst/>
              <a:cxnLst/>
              <a:rect r="r" b="b" t="t" l="l"/>
              <a:pathLst>
                <a:path h="3081782" w="21979382">
                  <a:moveTo>
                    <a:pt x="0" y="246507"/>
                  </a:moveTo>
                  <a:cubicBezTo>
                    <a:pt x="0" y="110363"/>
                    <a:pt x="110363" y="0"/>
                    <a:pt x="246507" y="0"/>
                  </a:cubicBezTo>
                  <a:lnTo>
                    <a:pt x="21732875" y="0"/>
                  </a:lnTo>
                  <a:cubicBezTo>
                    <a:pt x="21869019" y="0"/>
                    <a:pt x="21979382" y="110363"/>
                    <a:pt x="21979382" y="246507"/>
                  </a:cubicBezTo>
                  <a:lnTo>
                    <a:pt x="21979382" y="2835275"/>
                  </a:lnTo>
                  <a:cubicBezTo>
                    <a:pt x="21979382" y="2971419"/>
                    <a:pt x="21869019" y="3081782"/>
                    <a:pt x="21732875" y="3081782"/>
                  </a:cubicBezTo>
                  <a:lnTo>
                    <a:pt x="246507" y="3081782"/>
                  </a:lnTo>
                  <a:cubicBezTo>
                    <a:pt x="110363" y="3081909"/>
                    <a:pt x="0" y="2971546"/>
                    <a:pt x="0" y="2835275"/>
                  </a:cubicBezTo>
                  <a:close/>
                </a:path>
              </a:pathLst>
            </a:custGeom>
            <a:solidFill>
              <a:srgbClr val="EAF3F9"/>
            </a:solidFill>
            <a:ln w="25400" cap="sq">
              <a:solidFill>
                <a:srgbClr val="EAF3F9"/>
              </a:solidFill>
              <a:prstDash val="solid"/>
              <a:miter/>
            </a:ln>
          </p:spPr>
        </p:sp>
      </p:grpSp>
      <p:sp>
        <p:nvSpPr>
          <p:cNvPr name="TextBox 7" id="7"/>
          <p:cNvSpPr txBox="true"/>
          <p:nvPr/>
        </p:nvSpPr>
        <p:spPr>
          <a:xfrm rot="0">
            <a:off x="1371600" y="2686050"/>
            <a:ext cx="15544800" cy="605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1E88E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Solo project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71600" y="3362706"/>
            <a:ext cx="15544800" cy="1245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13232F"/>
                </a:solidFill>
                <a:latin typeface="Calibri (MS)"/>
                <a:ea typeface="Calibri (MS)"/>
                <a:cs typeface="Calibri (MS)"/>
                <a:sym typeface="Calibri (MS)"/>
              </a:rPr>
              <a:t>Lalluvadiya Jenil Sagarbhai did all the work: problem analysis, formulas, coding, animation, testing, GitHub upload, deployment, report and presentation.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01703" y="5565143"/>
            <a:ext cx="3728723" cy="3225803"/>
            <a:chOff x="0" y="0"/>
            <a:chExt cx="4971631" cy="430107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971669" cy="4301109"/>
            </a:xfrm>
            <a:custGeom>
              <a:avLst/>
              <a:gdLst/>
              <a:ahLst/>
              <a:cxnLst/>
              <a:rect r="r" b="b" t="t" l="l"/>
              <a:pathLst>
                <a:path h="4301109" w="4971669">
                  <a:moveTo>
                    <a:pt x="0" y="245745"/>
                  </a:moveTo>
                  <a:cubicBezTo>
                    <a:pt x="0" y="109982"/>
                    <a:pt x="109982" y="0"/>
                    <a:pt x="245745" y="0"/>
                  </a:cubicBezTo>
                  <a:lnTo>
                    <a:pt x="4725924" y="0"/>
                  </a:lnTo>
                  <a:cubicBezTo>
                    <a:pt x="4861687" y="0"/>
                    <a:pt x="4971669" y="109982"/>
                    <a:pt x="4971669" y="245745"/>
                  </a:cubicBezTo>
                  <a:lnTo>
                    <a:pt x="4971669" y="4055364"/>
                  </a:lnTo>
                  <a:cubicBezTo>
                    <a:pt x="4971669" y="4191127"/>
                    <a:pt x="4861687" y="4301109"/>
                    <a:pt x="4725924" y="4301109"/>
                  </a:cubicBezTo>
                  <a:lnTo>
                    <a:pt x="245745" y="4301109"/>
                  </a:lnTo>
                  <a:cubicBezTo>
                    <a:pt x="109982" y="4301109"/>
                    <a:pt x="0" y="4191000"/>
                    <a:pt x="0" y="4055364"/>
                  </a:cubicBezTo>
                  <a:close/>
                </a:path>
              </a:pathLst>
            </a:custGeom>
            <a:solidFill>
              <a:srgbClr val="0B2F45"/>
            </a:solidFill>
            <a:ln w="25400" cap="sq">
              <a:solidFill>
                <a:srgbClr val="0B2F45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1267463" y="5930903"/>
            <a:ext cx="756923" cy="756923"/>
            <a:chOff x="0" y="0"/>
            <a:chExt cx="1009231" cy="100923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09269" cy="1009269"/>
            </a:xfrm>
            <a:custGeom>
              <a:avLst/>
              <a:gdLst/>
              <a:ahLst/>
              <a:cxnLst/>
              <a:rect r="r" b="b" t="t" l="l"/>
              <a:pathLst>
                <a:path h="1009269" w="1009269">
                  <a:moveTo>
                    <a:pt x="0" y="504571"/>
                  </a:moveTo>
                  <a:cubicBezTo>
                    <a:pt x="0" y="225933"/>
                    <a:pt x="225933" y="0"/>
                    <a:pt x="504571" y="0"/>
                  </a:cubicBezTo>
                  <a:cubicBezTo>
                    <a:pt x="783209" y="0"/>
                    <a:pt x="1009269" y="225933"/>
                    <a:pt x="1009269" y="504571"/>
                  </a:cubicBezTo>
                  <a:cubicBezTo>
                    <a:pt x="1009269" y="783209"/>
                    <a:pt x="783336" y="1009269"/>
                    <a:pt x="504571" y="1009269"/>
                  </a:cubicBezTo>
                  <a:cubicBezTo>
                    <a:pt x="225806" y="1009269"/>
                    <a:pt x="0" y="783336"/>
                    <a:pt x="0" y="504571"/>
                  </a:cubicBezTo>
                  <a:close/>
                </a:path>
              </a:pathLst>
            </a:custGeom>
            <a:solidFill>
              <a:srgbClr val="1E88E5"/>
            </a:solidFill>
            <a:ln w="25400" cap="sq">
              <a:solidFill>
                <a:srgbClr val="1E88E5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1280160" y="5943600"/>
            <a:ext cx="731520" cy="731520"/>
            <a:chOff x="0" y="0"/>
            <a:chExt cx="975360" cy="97536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9050"/>
              <a:ext cx="975360" cy="9944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1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280160" y="6882765"/>
            <a:ext cx="3108960" cy="615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Solve on paper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80160" y="7541895"/>
            <a:ext cx="3108960" cy="1053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BBDEFB"/>
                </a:solidFill>
                <a:latin typeface="Calibri (MS)"/>
                <a:ea typeface="Calibri (MS)"/>
                <a:cs typeface="Calibri (MS)"/>
                <a:sym typeface="Calibri (MS)"/>
              </a:rPr>
              <a:t>Textbook numerical gives test values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5153663" y="5565143"/>
            <a:ext cx="3728723" cy="3225803"/>
            <a:chOff x="0" y="0"/>
            <a:chExt cx="4971631" cy="430107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971669" cy="4301109"/>
            </a:xfrm>
            <a:custGeom>
              <a:avLst/>
              <a:gdLst/>
              <a:ahLst/>
              <a:cxnLst/>
              <a:rect r="r" b="b" t="t" l="l"/>
              <a:pathLst>
                <a:path h="4301109" w="4971669">
                  <a:moveTo>
                    <a:pt x="0" y="245745"/>
                  </a:moveTo>
                  <a:cubicBezTo>
                    <a:pt x="0" y="109982"/>
                    <a:pt x="109982" y="0"/>
                    <a:pt x="245745" y="0"/>
                  </a:cubicBezTo>
                  <a:lnTo>
                    <a:pt x="4725924" y="0"/>
                  </a:lnTo>
                  <a:cubicBezTo>
                    <a:pt x="4861687" y="0"/>
                    <a:pt x="4971669" y="109982"/>
                    <a:pt x="4971669" y="245745"/>
                  </a:cubicBezTo>
                  <a:lnTo>
                    <a:pt x="4971669" y="4055364"/>
                  </a:lnTo>
                  <a:cubicBezTo>
                    <a:pt x="4971669" y="4191127"/>
                    <a:pt x="4861687" y="4301109"/>
                    <a:pt x="4725924" y="4301109"/>
                  </a:cubicBezTo>
                  <a:lnTo>
                    <a:pt x="245745" y="4301109"/>
                  </a:lnTo>
                  <a:cubicBezTo>
                    <a:pt x="109982" y="4301109"/>
                    <a:pt x="0" y="4191000"/>
                    <a:pt x="0" y="4055364"/>
                  </a:cubicBezTo>
                  <a:close/>
                </a:path>
              </a:pathLst>
            </a:custGeom>
            <a:solidFill>
              <a:srgbClr val="0B2F45"/>
            </a:solidFill>
            <a:ln w="25400" cap="sq">
              <a:solidFill>
                <a:srgbClr val="0B2F45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5519423" y="5930903"/>
            <a:ext cx="756923" cy="756923"/>
            <a:chOff x="0" y="0"/>
            <a:chExt cx="1009231" cy="100923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09269" cy="1009269"/>
            </a:xfrm>
            <a:custGeom>
              <a:avLst/>
              <a:gdLst/>
              <a:ahLst/>
              <a:cxnLst/>
              <a:rect r="r" b="b" t="t" l="l"/>
              <a:pathLst>
                <a:path h="1009269" w="1009269">
                  <a:moveTo>
                    <a:pt x="0" y="504571"/>
                  </a:moveTo>
                  <a:cubicBezTo>
                    <a:pt x="0" y="225933"/>
                    <a:pt x="225933" y="0"/>
                    <a:pt x="504571" y="0"/>
                  </a:cubicBezTo>
                  <a:cubicBezTo>
                    <a:pt x="783209" y="0"/>
                    <a:pt x="1009269" y="225933"/>
                    <a:pt x="1009269" y="504571"/>
                  </a:cubicBezTo>
                  <a:cubicBezTo>
                    <a:pt x="1009269" y="783209"/>
                    <a:pt x="783336" y="1009269"/>
                    <a:pt x="504571" y="1009269"/>
                  </a:cubicBezTo>
                  <a:cubicBezTo>
                    <a:pt x="225806" y="1009269"/>
                    <a:pt x="0" y="783336"/>
                    <a:pt x="0" y="504571"/>
                  </a:cubicBezTo>
                  <a:close/>
                </a:path>
              </a:pathLst>
            </a:custGeom>
            <a:solidFill>
              <a:srgbClr val="1E88E5"/>
            </a:solidFill>
            <a:ln w="25400" cap="sq">
              <a:solidFill>
                <a:srgbClr val="1E88E5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5532120" y="5943600"/>
            <a:ext cx="731520" cy="731520"/>
            <a:chOff x="0" y="0"/>
            <a:chExt cx="975360" cy="97536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19050"/>
              <a:ext cx="975360" cy="9944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2</a:t>
              </a: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5532120" y="6882765"/>
            <a:ext cx="3108960" cy="615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Build the app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5532120" y="7541895"/>
            <a:ext cx="3108960" cy="1053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BBDEFB"/>
                </a:solidFill>
                <a:latin typeface="Calibri (MS)"/>
                <a:ea typeface="Calibri (MS)"/>
                <a:cs typeface="Calibri (MS)"/>
                <a:sym typeface="Calibri (MS)"/>
              </a:rPr>
              <a:t>app.py in Python and Streamlit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9405623" y="5565143"/>
            <a:ext cx="3728723" cy="3225803"/>
            <a:chOff x="0" y="0"/>
            <a:chExt cx="4971631" cy="4301071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971669" cy="4301109"/>
            </a:xfrm>
            <a:custGeom>
              <a:avLst/>
              <a:gdLst/>
              <a:ahLst/>
              <a:cxnLst/>
              <a:rect r="r" b="b" t="t" l="l"/>
              <a:pathLst>
                <a:path h="4301109" w="4971669">
                  <a:moveTo>
                    <a:pt x="0" y="245745"/>
                  </a:moveTo>
                  <a:cubicBezTo>
                    <a:pt x="0" y="109982"/>
                    <a:pt x="109982" y="0"/>
                    <a:pt x="245745" y="0"/>
                  </a:cubicBezTo>
                  <a:lnTo>
                    <a:pt x="4725924" y="0"/>
                  </a:lnTo>
                  <a:cubicBezTo>
                    <a:pt x="4861687" y="0"/>
                    <a:pt x="4971669" y="109982"/>
                    <a:pt x="4971669" y="245745"/>
                  </a:cubicBezTo>
                  <a:lnTo>
                    <a:pt x="4971669" y="4055364"/>
                  </a:lnTo>
                  <a:cubicBezTo>
                    <a:pt x="4971669" y="4191127"/>
                    <a:pt x="4861687" y="4301109"/>
                    <a:pt x="4725924" y="4301109"/>
                  </a:cubicBezTo>
                  <a:lnTo>
                    <a:pt x="245745" y="4301109"/>
                  </a:lnTo>
                  <a:cubicBezTo>
                    <a:pt x="109982" y="4301109"/>
                    <a:pt x="0" y="4191000"/>
                    <a:pt x="0" y="4055364"/>
                  </a:cubicBezTo>
                  <a:close/>
                </a:path>
              </a:pathLst>
            </a:custGeom>
            <a:solidFill>
              <a:srgbClr val="0B2F45"/>
            </a:solidFill>
            <a:ln w="25400" cap="sq">
              <a:solidFill>
                <a:srgbClr val="0B2F45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9771383" y="5930903"/>
            <a:ext cx="756923" cy="756923"/>
            <a:chOff x="0" y="0"/>
            <a:chExt cx="1009231" cy="1009231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09269" cy="1009269"/>
            </a:xfrm>
            <a:custGeom>
              <a:avLst/>
              <a:gdLst/>
              <a:ahLst/>
              <a:cxnLst/>
              <a:rect r="r" b="b" t="t" l="l"/>
              <a:pathLst>
                <a:path h="1009269" w="1009269">
                  <a:moveTo>
                    <a:pt x="0" y="504571"/>
                  </a:moveTo>
                  <a:cubicBezTo>
                    <a:pt x="0" y="225933"/>
                    <a:pt x="225933" y="0"/>
                    <a:pt x="504571" y="0"/>
                  </a:cubicBezTo>
                  <a:cubicBezTo>
                    <a:pt x="783209" y="0"/>
                    <a:pt x="1009269" y="225933"/>
                    <a:pt x="1009269" y="504571"/>
                  </a:cubicBezTo>
                  <a:cubicBezTo>
                    <a:pt x="1009269" y="783209"/>
                    <a:pt x="783336" y="1009269"/>
                    <a:pt x="504571" y="1009269"/>
                  </a:cubicBezTo>
                  <a:cubicBezTo>
                    <a:pt x="225806" y="1009269"/>
                    <a:pt x="0" y="783336"/>
                    <a:pt x="0" y="504571"/>
                  </a:cubicBezTo>
                  <a:close/>
                </a:path>
              </a:pathLst>
            </a:custGeom>
            <a:solidFill>
              <a:srgbClr val="1E88E5"/>
            </a:solidFill>
            <a:ln w="25400" cap="sq">
              <a:solidFill>
                <a:srgbClr val="1E88E5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9784080" y="5943600"/>
            <a:ext cx="731520" cy="731520"/>
            <a:chOff x="0" y="0"/>
            <a:chExt cx="975360" cy="97536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19050"/>
              <a:ext cx="975360" cy="9944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3</a:t>
              </a: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9784080" y="6882765"/>
            <a:ext cx="3108960" cy="615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Push to GitHub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784080" y="7541895"/>
            <a:ext cx="3108960" cy="1053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BBDEFB"/>
                </a:solidFill>
                <a:latin typeface="Calibri (MS)"/>
                <a:ea typeface="Calibri (MS)"/>
                <a:cs typeface="Calibri (MS)"/>
                <a:sym typeface="Calibri (MS)"/>
              </a:rPr>
              <a:t>app.py and requirements.txt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13657583" y="5565143"/>
            <a:ext cx="3728723" cy="3225803"/>
            <a:chOff x="0" y="0"/>
            <a:chExt cx="4971631" cy="4301071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4971669" cy="4301109"/>
            </a:xfrm>
            <a:custGeom>
              <a:avLst/>
              <a:gdLst/>
              <a:ahLst/>
              <a:cxnLst/>
              <a:rect r="r" b="b" t="t" l="l"/>
              <a:pathLst>
                <a:path h="4301109" w="4971669">
                  <a:moveTo>
                    <a:pt x="0" y="245745"/>
                  </a:moveTo>
                  <a:cubicBezTo>
                    <a:pt x="0" y="109982"/>
                    <a:pt x="109982" y="0"/>
                    <a:pt x="245745" y="0"/>
                  </a:cubicBezTo>
                  <a:lnTo>
                    <a:pt x="4725924" y="0"/>
                  </a:lnTo>
                  <a:cubicBezTo>
                    <a:pt x="4861687" y="0"/>
                    <a:pt x="4971669" y="109982"/>
                    <a:pt x="4971669" y="245745"/>
                  </a:cubicBezTo>
                  <a:lnTo>
                    <a:pt x="4971669" y="4055364"/>
                  </a:lnTo>
                  <a:cubicBezTo>
                    <a:pt x="4971669" y="4191127"/>
                    <a:pt x="4861687" y="4301109"/>
                    <a:pt x="4725924" y="4301109"/>
                  </a:cubicBezTo>
                  <a:lnTo>
                    <a:pt x="245745" y="4301109"/>
                  </a:lnTo>
                  <a:cubicBezTo>
                    <a:pt x="109982" y="4301109"/>
                    <a:pt x="0" y="4191000"/>
                    <a:pt x="0" y="4055364"/>
                  </a:cubicBezTo>
                  <a:close/>
                </a:path>
              </a:pathLst>
            </a:custGeom>
            <a:solidFill>
              <a:srgbClr val="0B2F45"/>
            </a:solidFill>
            <a:ln w="25400" cap="sq">
              <a:solidFill>
                <a:srgbClr val="0B2F45"/>
              </a:solidFill>
              <a:prstDash val="solid"/>
              <a:miter/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14023343" y="5930903"/>
            <a:ext cx="756923" cy="756923"/>
            <a:chOff x="0" y="0"/>
            <a:chExt cx="1009231" cy="1009231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009269" cy="1009269"/>
            </a:xfrm>
            <a:custGeom>
              <a:avLst/>
              <a:gdLst/>
              <a:ahLst/>
              <a:cxnLst/>
              <a:rect r="r" b="b" t="t" l="l"/>
              <a:pathLst>
                <a:path h="1009269" w="1009269">
                  <a:moveTo>
                    <a:pt x="0" y="504571"/>
                  </a:moveTo>
                  <a:cubicBezTo>
                    <a:pt x="0" y="225933"/>
                    <a:pt x="225933" y="0"/>
                    <a:pt x="504571" y="0"/>
                  </a:cubicBezTo>
                  <a:cubicBezTo>
                    <a:pt x="783209" y="0"/>
                    <a:pt x="1009269" y="225933"/>
                    <a:pt x="1009269" y="504571"/>
                  </a:cubicBezTo>
                  <a:cubicBezTo>
                    <a:pt x="1009269" y="783209"/>
                    <a:pt x="783336" y="1009269"/>
                    <a:pt x="504571" y="1009269"/>
                  </a:cubicBezTo>
                  <a:cubicBezTo>
                    <a:pt x="225806" y="1009269"/>
                    <a:pt x="0" y="783336"/>
                    <a:pt x="0" y="504571"/>
                  </a:cubicBezTo>
                  <a:close/>
                </a:path>
              </a:pathLst>
            </a:custGeom>
            <a:solidFill>
              <a:srgbClr val="1E88E5"/>
            </a:solidFill>
            <a:ln w="25400" cap="sq">
              <a:solidFill>
                <a:srgbClr val="1E88E5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14036040" y="5943600"/>
            <a:ext cx="731520" cy="731520"/>
            <a:chOff x="0" y="0"/>
            <a:chExt cx="975360" cy="97536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19050"/>
              <a:ext cx="975360" cy="9944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4</a:t>
              </a:r>
            </a:p>
          </p:txBody>
        </p:sp>
      </p:grpSp>
      <p:sp>
        <p:nvSpPr>
          <p:cNvPr name="TextBox 43" id="43"/>
          <p:cNvSpPr txBox="true"/>
          <p:nvPr/>
        </p:nvSpPr>
        <p:spPr>
          <a:xfrm rot="0">
            <a:off x="14036040" y="6882765"/>
            <a:ext cx="3108960" cy="615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Deploy live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4036040" y="7541895"/>
            <a:ext cx="3108960" cy="1053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BBDEFB"/>
                </a:solidFill>
                <a:latin typeface="Calibri (MS)"/>
                <a:ea typeface="Calibri (MS)"/>
                <a:cs typeface="Calibri (MS)"/>
                <a:sym typeface="Calibri (MS)"/>
              </a:rPr>
              <a:t>Streamlit Community Cloud link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2F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731520"/>
            <a:ext cx="16459200" cy="1280160"/>
            <a:chOff x="0" y="0"/>
            <a:chExt cx="21945600" cy="17068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1945600" cy="17164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679"/>
                </a:lnSpc>
              </a:pPr>
              <a:r>
                <a:rPr lang="en-US" sz="6399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Conclusions and learnings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914400" y="2459355"/>
            <a:ext cx="7680960" cy="741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 b="true">
                <a:solidFill>
                  <a:srgbClr val="BBDEFB"/>
                </a:solidFill>
                <a:latin typeface="Cambria Bold"/>
                <a:ea typeface="Cambria Bold"/>
                <a:cs typeface="Cambria Bold"/>
                <a:sym typeface="Cambria Bold"/>
              </a:rPr>
              <a:t>Engineering conclusions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14400" y="3408045"/>
            <a:ext cx="7680960" cy="5918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75639" indent="-33782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Thrust grows with centroid depth and plate area.</a:t>
            </a:r>
          </a:p>
          <a:p>
            <a:pPr algn="l" marL="675639" indent="-33782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The center of pressure is always below the centroid, and the gap shrinks as the plate goes deeper.</a:t>
            </a:r>
          </a:p>
          <a:p>
            <a:pPr algn="l" marL="675639" indent="-33782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Tilting the plate cuts the vertical gap by sin²θ.</a:t>
            </a:r>
          </a:p>
          <a:p>
            <a:pPr algn="l" marL="675639" indent="-33782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Mercury gives about 13.6 times the thrust of water.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692640" y="2459355"/>
            <a:ext cx="7680960" cy="741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 b="true">
                <a:solidFill>
                  <a:srgbClr val="BBDEFB"/>
                </a:solidFill>
                <a:latin typeface="Cambria Bold"/>
                <a:ea typeface="Cambria Bold"/>
                <a:cs typeface="Cambria Bold"/>
                <a:sym typeface="Cambria Bold"/>
              </a:rPr>
              <a:t>What I learned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692640" y="3408045"/>
            <a:ext cx="7680960" cy="5918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75639" indent="-33782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Turning a textbook numerical into reusable code with Streamlit widgets.</a:t>
            </a:r>
          </a:p>
          <a:p>
            <a:pPr algn="l" marL="675639" indent="-33782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Checking the app against a manual solution to catch mistakes.</a:t>
            </a:r>
          </a:p>
          <a:p>
            <a:pPr algn="l" marL="675639" indent="-33782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Adding validation so impossible inputs give clear messages.</a:t>
            </a:r>
          </a:p>
          <a:p>
            <a:pPr algn="l" marL="675639" indent="-33782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Publishing an app through GitHub and Streamlit Community Cloud.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>
            <a:hlinkClick action="ppaction://media"/>
          </p:cNvPr>
          <p:cNvPicPr>
            <a:picLocks noChangeAspect="true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DAHWIoEu-Yc</dc:identifier>
  <dcterms:modified xsi:type="dcterms:W3CDTF">2011-08-01T06:04:30Z</dcterms:modified>
  <cp:revision>1</cp:revision>
  <dc:title>Now, let's look at the submarine example and a demo of the app.</dc:title>
</cp:coreProperties>
</file>